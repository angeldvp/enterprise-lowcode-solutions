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9"/>
  </p:notesMasterIdLst>
  <p:sldIdLst>
    <p:sldId id="7294" r:id="rId5"/>
    <p:sldId id="7304" r:id="rId6"/>
    <p:sldId id="7268" r:id="rId7"/>
    <p:sldId id="7270" r:id="rId8"/>
    <p:sldId id="7295" r:id="rId9"/>
    <p:sldId id="7297" r:id="rId10"/>
    <p:sldId id="7291" r:id="rId11"/>
    <p:sldId id="7296" r:id="rId12"/>
    <p:sldId id="7299" r:id="rId13"/>
    <p:sldId id="7298" r:id="rId14"/>
    <p:sldId id="7300" r:id="rId15"/>
    <p:sldId id="7301" r:id="rId16"/>
    <p:sldId id="7302" r:id="rId17"/>
    <p:sldId id="7303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2D91"/>
    <a:srgbClr val="FFFFFF"/>
    <a:srgbClr val="E2211C"/>
    <a:srgbClr val="E0201B"/>
    <a:srgbClr val="113595"/>
    <a:srgbClr val="946D00"/>
    <a:srgbClr val="FF8C02"/>
    <a:srgbClr val="C8A85E"/>
    <a:srgbClr val="00FDFF"/>
    <a:srgbClr val="776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28" autoAdjust="0"/>
    <p:restoredTop sz="96871" autoAdjust="0"/>
  </p:normalViewPr>
  <p:slideViewPr>
    <p:cSldViewPr snapToGrid="0">
      <p:cViewPr varScale="1">
        <p:scale>
          <a:sx n="57" d="100"/>
          <a:sy n="57" d="100"/>
        </p:scale>
        <p:origin x="125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3301662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 Juan Pérez"/>
          <p:cNvSpPr txBox="1">
            <a:spLocks noGrp="1"/>
          </p:cNvSpPr>
          <p:nvPr>
            <p:ph type="body" sz="quarter" idx="13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 Juan Pérez</a:t>
            </a:r>
          </a:p>
        </p:txBody>
      </p:sp>
      <p:sp>
        <p:nvSpPr>
          <p:cNvPr id="94" name="“Escribe una cita aquí”"/>
          <p:cNvSpPr txBox="1">
            <a:spLocks noGrp="1"/>
          </p:cNvSpPr>
          <p:nvPr>
            <p:ph type="body" sz="quarter" idx="14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“Escribe una cita aquí” </a:t>
            </a:r>
          </a:p>
        </p:txBody>
      </p:sp>
      <p:sp>
        <p:nvSpPr>
          <p:cNvPr id="95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n"/>
          <p:cNvSpPr>
            <a:spLocks noGrp="1"/>
          </p:cNvSpPr>
          <p:nvPr>
            <p:ph type="pic" idx="13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775331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el título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Texto del título</a:t>
            </a:r>
          </a:p>
        </p:txBody>
      </p:sp>
      <p:sp>
        <p:nvSpPr>
          <p:cNvPr id="3" name="Nivel de texto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1221651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2603D32-F69D-6DB3-6C8B-75A167A37A94}"/>
              </a:ext>
            </a:extLst>
          </p:cNvPr>
          <p:cNvSpPr txBox="1"/>
          <p:nvPr/>
        </p:nvSpPr>
        <p:spPr>
          <a:xfrm>
            <a:off x="805524" y="2997258"/>
            <a:ext cx="23201031" cy="59503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L" sz="34400" i="0" u="none" strike="noStrike" cap="none" spc="0" normalizeH="0" baseline="0" dirty="0">
                <a:ln>
                  <a:noFill/>
                </a:ln>
                <a:solidFill>
                  <a:srgbClr val="072D91"/>
                </a:solidFill>
                <a:effectLst/>
                <a:uFillTx/>
                <a:latin typeface="Meutas Medium"/>
                <a:ea typeface="Gadugi" panose="020B0502040204020203" pitchFamily="34" charset="0"/>
                <a:sym typeface="Helvetica Neue"/>
              </a:rPr>
              <a:t>GEO</a:t>
            </a:r>
            <a:r>
              <a:rPr kumimoji="0" lang="es-CL" sz="3440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Meutas Medium"/>
                <a:ea typeface="Gadugi" panose="020B0502040204020203" pitchFamily="34" charset="0"/>
                <a:sym typeface="Helvetica Neue"/>
              </a:rPr>
              <a:t>VISION</a:t>
            </a:r>
            <a:endParaRPr lang="es-CL" sz="34400" dirty="0">
              <a:solidFill>
                <a:srgbClr val="FF0000"/>
              </a:solidFill>
              <a:latin typeface="Meutas Medium"/>
              <a:ea typeface="Gadugi" panose="020B0502040204020203" pitchFamily="34" charset="0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MX" sz="3600" dirty="0">
                <a:solidFill>
                  <a:schemeClr val="tx1"/>
                </a:solidFill>
                <a:latin typeface="Meutas Medium" pitchFamily="2" charset="77"/>
              </a:rPr>
              <a:t>                                        </a:t>
            </a:r>
            <a:r>
              <a:rPr lang="es-MX" sz="3600" i="1" dirty="0">
                <a:solidFill>
                  <a:schemeClr val="tx1"/>
                </a:solidFill>
                <a:latin typeface="Meutas Medium" pitchFamily="2" charset="77"/>
              </a:rPr>
              <a:t>Blindaje de datos y agilidad operativa: APP de Creación de clientes</a:t>
            </a:r>
            <a:endParaRPr lang="es-CL" sz="3600" i="1" dirty="0">
              <a:solidFill>
                <a:schemeClr val="tx1"/>
              </a:solidFill>
              <a:latin typeface="Meuta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4727107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6B572C2-A4FC-8BB0-7BFA-8291C55B1597}"/>
              </a:ext>
            </a:extLst>
          </p:cNvPr>
          <p:cNvSpPr txBox="1"/>
          <p:nvPr/>
        </p:nvSpPr>
        <p:spPr>
          <a:xfrm>
            <a:off x="982882" y="773722"/>
            <a:ext cx="12926549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MX" sz="6000" b="1" i="0" u="none" strike="noStrike" cap="none" spc="0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FillTx/>
                <a:latin typeface="Poppins" panose="02000000000000000000" pitchFamily="2" charset="77"/>
                <a:cs typeface="Poppins" panose="02000000000000000000" pitchFamily="2" charset="77"/>
                <a:sym typeface="Helvetica Neue"/>
              </a:rPr>
              <a:t>Diagnóstico</a:t>
            </a:r>
            <a:endParaRPr kumimoji="0" lang="es-CL" sz="6000" b="1" i="0" u="none" strike="noStrike" cap="none" spc="0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FillTx/>
              <a:latin typeface="Poppins" panose="02000000000000000000" pitchFamily="2" charset="77"/>
              <a:cs typeface="Poppins" panose="02000000000000000000" pitchFamily="2" charset="77"/>
              <a:sym typeface="Helvetica Neue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B5A0B52-53C7-7EDA-6266-4AD1F8AAA0F5}"/>
              </a:ext>
            </a:extLst>
          </p:cNvPr>
          <p:cNvSpPr txBox="1"/>
          <p:nvPr/>
        </p:nvSpPr>
        <p:spPr>
          <a:xfrm>
            <a:off x="982881" y="3107362"/>
            <a:ext cx="6332319" cy="55092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71500" marR="0" indent="-5715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Data </a:t>
            </a:r>
            <a:r>
              <a:rPr lang="es-MX" sz="4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Quality</a:t>
            </a:r>
            <a:endParaRPr lang="es-MX" sz="4400" dirty="0">
              <a:solidFill>
                <a:schemeClr val="tx1">
                  <a:lumMod val="65000"/>
                  <a:lumOff val="35000"/>
                </a:schemeClr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marL="571500" marR="0" indent="-5715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Cuello de botellas</a:t>
            </a:r>
          </a:p>
          <a:p>
            <a:pPr marL="571500" marR="0" indent="-5715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Saneamiento de datos</a:t>
            </a:r>
          </a:p>
          <a:p>
            <a:pPr marL="571500" marR="0" indent="-5715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Efecto dominó</a:t>
            </a:r>
          </a:p>
          <a:p>
            <a:pPr marL="571500" marR="0" indent="-5715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Pocas herramientas de auditoría</a:t>
            </a:r>
            <a:endParaRPr lang="es-CL" sz="4400" dirty="0">
              <a:solidFill>
                <a:schemeClr val="tx1">
                  <a:lumMod val="65000"/>
                  <a:lumOff val="35000"/>
                </a:schemeClr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23F88F0-0B30-CA72-70AE-48BDD2A76AFB}"/>
              </a:ext>
            </a:extLst>
          </p:cNvPr>
          <p:cNvSpPr txBox="1"/>
          <p:nvPr/>
        </p:nvSpPr>
        <p:spPr>
          <a:xfrm>
            <a:off x="982881" y="1796742"/>
            <a:ext cx="6573859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MX" sz="4000" dirty="0">
                <a:solidFill>
                  <a:srgbClr val="FF0000"/>
                </a:solidFill>
                <a:highlight>
                  <a:srgbClr val="FEFFFC"/>
                </a:highlight>
                <a:latin typeface="Poppins" panose="02000000000000000000" pitchFamily="2" charset="77"/>
                <a:cs typeface="Poppins" panose="02000000000000000000" pitchFamily="2" charset="77"/>
              </a:rPr>
              <a:t>VISIÓN</a:t>
            </a:r>
            <a:r>
              <a:rPr kumimoji="0" lang="es-MX" sz="400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EFFFC"/>
                </a:highlight>
                <a:uFillTx/>
                <a:latin typeface="Poppins" panose="02000000000000000000" pitchFamily="2" charset="77"/>
                <a:cs typeface="Poppins" panose="02000000000000000000" pitchFamily="2" charset="77"/>
                <a:sym typeface="Helvetica Neue"/>
              </a:rPr>
              <a:t> </a:t>
            </a:r>
            <a:r>
              <a:rPr kumimoji="0" lang="es-MX" sz="400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EFFFC"/>
                </a:highlight>
                <a:uFillTx/>
                <a:latin typeface="Poppins" panose="02000000000000000000" pitchFamily="2" charset="77"/>
                <a:cs typeface="Poppins" panose="02000000000000000000" pitchFamily="2" charset="77"/>
                <a:sym typeface="Helvetica Neue"/>
              </a:rPr>
              <a:t>ADMINISTRATIVA</a:t>
            </a:r>
            <a:endParaRPr kumimoji="0" lang="es-CL" sz="400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EFFFC"/>
              </a:highlight>
              <a:uFillTx/>
              <a:latin typeface="Poppins" panose="02000000000000000000" pitchFamily="2" charset="77"/>
              <a:cs typeface="Poppins" panose="02000000000000000000" pitchFamily="2" charset="77"/>
              <a:sym typeface="Helvetica Neue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A5A3024-FB34-8556-00DE-63DF2DF993DE}"/>
              </a:ext>
            </a:extLst>
          </p:cNvPr>
          <p:cNvSpPr txBox="1"/>
          <p:nvPr/>
        </p:nvSpPr>
        <p:spPr>
          <a:xfrm>
            <a:off x="14543605" y="1796742"/>
            <a:ext cx="6573859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MX" sz="4000" dirty="0">
                <a:solidFill>
                  <a:srgbClr val="FF0000"/>
                </a:solidFill>
                <a:highlight>
                  <a:srgbClr val="FEFFFC"/>
                </a:highlight>
                <a:latin typeface="Poppins" panose="02000000000000000000" pitchFamily="2" charset="77"/>
                <a:cs typeface="Poppins" panose="02000000000000000000" pitchFamily="2" charset="77"/>
              </a:rPr>
              <a:t>VISIÓN</a:t>
            </a:r>
            <a:r>
              <a:rPr kumimoji="0" lang="es-MX" sz="400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EFFFC"/>
                </a:highlight>
                <a:uFillTx/>
                <a:latin typeface="Poppins" panose="02000000000000000000" pitchFamily="2" charset="77"/>
                <a:cs typeface="Poppins" panose="02000000000000000000" pitchFamily="2" charset="77"/>
                <a:sym typeface="Helvetica Neue"/>
              </a:rPr>
              <a:t> </a:t>
            </a:r>
            <a:r>
              <a:rPr kumimoji="0" lang="es-MX" sz="400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EFFFC"/>
                </a:highlight>
                <a:uFillTx/>
                <a:latin typeface="Poppins" panose="02000000000000000000" pitchFamily="2" charset="77"/>
                <a:cs typeface="Poppins" panose="02000000000000000000" pitchFamily="2" charset="77"/>
                <a:sym typeface="Helvetica Neue"/>
              </a:rPr>
              <a:t>EN TERRENO</a:t>
            </a:r>
            <a:endParaRPr kumimoji="0" lang="es-CL" sz="400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EFFFC"/>
              </a:highlight>
              <a:uFillTx/>
              <a:latin typeface="Poppins" panose="02000000000000000000" pitchFamily="2" charset="77"/>
              <a:cs typeface="Poppins" panose="02000000000000000000" pitchFamily="2" charset="77"/>
              <a:sym typeface="Helvetica Neue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66D7DED-6920-06F5-C22F-E300885CA630}"/>
              </a:ext>
            </a:extLst>
          </p:cNvPr>
          <p:cNvSpPr txBox="1"/>
          <p:nvPr/>
        </p:nvSpPr>
        <p:spPr>
          <a:xfrm>
            <a:off x="13902642" y="3104691"/>
            <a:ext cx="6332319" cy="61863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71500" marR="0" indent="-5715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Redundancia burocrática</a:t>
            </a:r>
          </a:p>
          <a:p>
            <a:pPr marL="571500" marR="0" indent="-5715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Desarticulación de rutas</a:t>
            </a:r>
          </a:p>
          <a:p>
            <a:pPr marL="571500" marR="0" indent="-5715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Fragilidad del dato manual</a:t>
            </a:r>
          </a:p>
          <a:p>
            <a:pPr marL="571500" marR="0" indent="-5715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Nula asistencia del sistema de creación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BFB0FB7E-1F5A-509F-15F2-EA125D7AA556}"/>
              </a:ext>
            </a:extLst>
          </p:cNvPr>
          <p:cNvCxnSpPr>
            <a:cxnSpLocks/>
          </p:cNvCxnSpPr>
          <p:nvPr/>
        </p:nvCxnSpPr>
        <p:spPr>
          <a:xfrm>
            <a:off x="10674626" y="3104691"/>
            <a:ext cx="0" cy="9021048"/>
          </a:xfrm>
          <a:prstGeom prst="line">
            <a:avLst/>
          </a:prstGeom>
          <a:noFill/>
          <a:ln w="38100" cap="flat">
            <a:solidFill>
              <a:srgbClr val="113595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52979666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E523E050-BC46-DC10-BC00-E675B0782174}"/>
              </a:ext>
            </a:extLst>
          </p:cNvPr>
          <p:cNvSpPr txBox="1"/>
          <p:nvPr/>
        </p:nvSpPr>
        <p:spPr>
          <a:xfrm>
            <a:off x="982882" y="773722"/>
            <a:ext cx="12926549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MX" sz="6000" b="1" i="0" u="none" strike="noStrike" cap="none" spc="0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FillTx/>
                <a:latin typeface="Poppins" panose="02000000000000000000" pitchFamily="2" charset="77"/>
                <a:cs typeface="Poppins" panose="02000000000000000000" pitchFamily="2" charset="77"/>
                <a:sym typeface="Helvetica Neue"/>
              </a:rPr>
              <a:t>PROPUESTA: APP GEO</a:t>
            </a:r>
            <a:r>
              <a:rPr kumimoji="0" lang="es-MX" sz="60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Poppins" panose="02000000000000000000" pitchFamily="2" charset="77"/>
                <a:cs typeface="Poppins" panose="02000000000000000000" pitchFamily="2" charset="77"/>
                <a:sym typeface="Helvetica Neue"/>
              </a:rPr>
              <a:t>VISIÓN</a:t>
            </a:r>
            <a:endParaRPr kumimoji="0" lang="es-CL" sz="60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Poppins" panose="02000000000000000000" pitchFamily="2" charset="77"/>
              <a:cs typeface="Poppins" panose="02000000000000000000" pitchFamily="2" charset="77"/>
              <a:sym typeface="Helvetica Neue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BCCEBF5-B266-1E97-DA96-BF6D914E6EF0}"/>
              </a:ext>
            </a:extLst>
          </p:cNvPr>
          <p:cNvSpPr txBox="1"/>
          <p:nvPr/>
        </p:nvSpPr>
        <p:spPr>
          <a:xfrm>
            <a:off x="982881" y="1796742"/>
            <a:ext cx="12366170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MX" sz="4000" i="0" u="none" strike="noStrike" cap="none" spc="0" normalizeH="0" baseline="0" dirty="0">
                <a:ln>
                  <a:noFill/>
                </a:ln>
                <a:solidFill>
                  <a:srgbClr val="C8A85E"/>
                </a:solidFill>
                <a:effectLst/>
                <a:highlight>
                  <a:srgbClr val="FEFFFC"/>
                </a:highlight>
                <a:uFillTx/>
                <a:latin typeface="Poppins" panose="02000000000000000000" pitchFamily="2" charset="77"/>
                <a:cs typeface="Poppins" panose="02000000000000000000" pitchFamily="2" charset="77"/>
                <a:sym typeface="Helvetica Neue"/>
              </a:rPr>
              <a:t>Beneficios</a:t>
            </a:r>
            <a:r>
              <a:rPr lang="es-CL" sz="4000" dirty="0">
                <a:solidFill>
                  <a:srgbClr val="C8A85E"/>
                </a:solidFill>
                <a:highlight>
                  <a:srgbClr val="FEFFFC"/>
                </a:highlight>
                <a:latin typeface="Poppins" panose="02000000000000000000" pitchFamily="2" charset="77"/>
                <a:cs typeface="Poppins" panose="02000000000000000000" pitchFamily="2" charset="77"/>
              </a:rPr>
              <a:t> y demostración</a:t>
            </a:r>
            <a:endParaRPr kumimoji="0" lang="es-MX" sz="4000" i="0" u="none" strike="noStrike" cap="none" spc="0" normalizeH="0" baseline="0" dirty="0">
              <a:ln>
                <a:noFill/>
              </a:ln>
              <a:solidFill>
                <a:srgbClr val="C8A85E"/>
              </a:solidFill>
              <a:effectLst/>
              <a:highlight>
                <a:srgbClr val="FEFFFC"/>
              </a:highlight>
              <a:uFillTx/>
              <a:latin typeface="Poppins" panose="02000000000000000000" pitchFamily="2" charset="77"/>
              <a:cs typeface="Poppins" panose="02000000000000000000" pitchFamily="2" charset="77"/>
              <a:sym typeface="Helvetica Neue"/>
            </a:endParaRPr>
          </a:p>
        </p:txBody>
      </p:sp>
      <p:pic>
        <p:nvPicPr>
          <p:cNvPr id="16" name="Imagen 15" descr="Un celular con texto e imagen&#10;&#10;El contenido generado por IA puede ser incorrecto.">
            <a:extLst>
              <a:ext uri="{FF2B5EF4-FFF2-40B4-BE49-F238E27FC236}">
                <a16:creationId xmlns:a16="http://schemas.microsoft.com/office/drawing/2014/main" id="{DB9EEBAB-7CE6-09A1-6806-1C81A968B5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23" t="4615" r="21401" b="2696"/>
          <a:stretch/>
        </p:blipFill>
        <p:spPr>
          <a:xfrm>
            <a:off x="9854486" y="1789385"/>
            <a:ext cx="5037827" cy="11438626"/>
          </a:xfrm>
          <a:prstGeom prst="rect">
            <a:avLst/>
          </a:prstGeom>
        </p:spPr>
      </p:pic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D6B517F4-DA3A-3FA2-DEA3-163502725818}"/>
              </a:ext>
            </a:extLst>
          </p:cNvPr>
          <p:cNvSpPr/>
          <p:nvPr/>
        </p:nvSpPr>
        <p:spPr>
          <a:xfrm>
            <a:off x="484719" y="5725936"/>
            <a:ext cx="8879512" cy="1759476"/>
          </a:xfrm>
          <a:prstGeom prst="roundRect">
            <a:avLst/>
          </a:prstGeom>
          <a:solidFill>
            <a:srgbClr val="113595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7479E6B0-61B1-A4F3-695C-27A9CD92C8EC}"/>
              </a:ext>
            </a:extLst>
          </p:cNvPr>
          <p:cNvSpPr/>
          <p:nvPr/>
        </p:nvSpPr>
        <p:spPr>
          <a:xfrm>
            <a:off x="484719" y="7865746"/>
            <a:ext cx="8879512" cy="1759476"/>
          </a:xfrm>
          <a:prstGeom prst="roundRect">
            <a:avLst/>
          </a:prstGeom>
          <a:solidFill>
            <a:srgbClr val="E2211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1339D91D-D488-AB62-CAF4-A1700F763A52}"/>
              </a:ext>
            </a:extLst>
          </p:cNvPr>
          <p:cNvSpPr/>
          <p:nvPr/>
        </p:nvSpPr>
        <p:spPr>
          <a:xfrm>
            <a:off x="487487" y="3586127"/>
            <a:ext cx="8879512" cy="1759476"/>
          </a:xfrm>
          <a:prstGeom prst="roundRect">
            <a:avLst/>
          </a:prstGeom>
          <a:solidFill>
            <a:srgbClr val="E2211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2128A7A-6B5C-2508-FA55-4A971E6EFB37}"/>
              </a:ext>
            </a:extLst>
          </p:cNvPr>
          <p:cNvSpPr txBox="1"/>
          <p:nvPr/>
        </p:nvSpPr>
        <p:spPr>
          <a:xfrm>
            <a:off x="356533" y="4177556"/>
            <a:ext cx="9135884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Validación inteligente por IA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D2ABEEB-C4DB-04A5-CD01-60FCC74068C5}"/>
              </a:ext>
            </a:extLst>
          </p:cNvPr>
          <p:cNvSpPr txBox="1"/>
          <p:nvPr/>
        </p:nvSpPr>
        <p:spPr>
          <a:xfrm>
            <a:off x="563917" y="7724691"/>
            <a:ext cx="8656865" cy="204158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endParaRPr lang="es-MX" sz="3200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Respeto a la Nueva Ley de Protección de Datos Personales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0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E985957-E097-4485-0F41-FBDCC52874F6}"/>
              </a:ext>
            </a:extLst>
          </p:cNvPr>
          <p:cNvSpPr txBox="1"/>
          <p:nvPr/>
        </p:nvSpPr>
        <p:spPr>
          <a:xfrm>
            <a:off x="1200367" y="6380339"/>
            <a:ext cx="7453753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Ciclos de doble validación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36189B12-B05C-4A34-75D7-22E0AAA5EADB}"/>
              </a:ext>
            </a:extLst>
          </p:cNvPr>
          <p:cNvSpPr/>
          <p:nvPr/>
        </p:nvSpPr>
        <p:spPr>
          <a:xfrm>
            <a:off x="15198400" y="5706680"/>
            <a:ext cx="8879512" cy="1759476"/>
          </a:xfrm>
          <a:prstGeom prst="roundRect">
            <a:avLst/>
          </a:prstGeom>
          <a:solidFill>
            <a:srgbClr val="E2211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7953050-5441-B892-F443-8FB29FAF4EE2}"/>
              </a:ext>
            </a:extLst>
          </p:cNvPr>
          <p:cNvSpPr txBox="1"/>
          <p:nvPr/>
        </p:nvSpPr>
        <p:spPr>
          <a:xfrm>
            <a:off x="16842005" y="5319405"/>
            <a:ext cx="5849930" cy="25340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endParaRPr lang="es-MX" sz="3200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Independencia tecnológica y soberanía corporativa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00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A03D21C0-D530-D4FA-E1A8-F1119EDBF10D}"/>
              </a:ext>
            </a:extLst>
          </p:cNvPr>
          <p:cNvSpPr/>
          <p:nvPr/>
        </p:nvSpPr>
        <p:spPr>
          <a:xfrm>
            <a:off x="15198400" y="3460685"/>
            <a:ext cx="8879512" cy="1759476"/>
          </a:xfrm>
          <a:prstGeom prst="roundRect">
            <a:avLst/>
          </a:prstGeom>
          <a:solidFill>
            <a:srgbClr val="113595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B1486FA-CA1E-41DE-E5AE-501C8AF6AA67}"/>
              </a:ext>
            </a:extLst>
          </p:cNvPr>
          <p:cNvSpPr txBox="1"/>
          <p:nvPr/>
        </p:nvSpPr>
        <p:spPr>
          <a:xfrm>
            <a:off x="17137456" y="3776959"/>
            <a:ext cx="5001400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GPS obligatorio y auditable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440E332A-57BF-76EA-7A7A-8DB9345AD3C0}"/>
              </a:ext>
            </a:extLst>
          </p:cNvPr>
          <p:cNvSpPr/>
          <p:nvPr/>
        </p:nvSpPr>
        <p:spPr>
          <a:xfrm>
            <a:off x="15198400" y="7863049"/>
            <a:ext cx="8879512" cy="1759476"/>
          </a:xfrm>
          <a:prstGeom prst="roundRect">
            <a:avLst/>
          </a:prstGeom>
          <a:solidFill>
            <a:srgbClr val="113595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A9948AF-5FE6-4A5D-4039-78B9E2673B53}"/>
              </a:ext>
            </a:extLst>
          </p:cNvPr>
          <p:cNvSpPr txBox="1"/>
          <p:nvPr/>
        </p:nvSpPr>
        <p:spPr>
          <a:xfrm>
            <a:off x="15868953" y="8450399"/>
            <a:ext cx="7538407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Aumento de </a:t>
            </a:r>
            <a:r>
              <a:rPr lang="es-MX" sz="3200" dirty="0" err="1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KPIs</a:t>
            </a:r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 de alta confianza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2795C3C-B6D7-9B01-61D0-8720E848EC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246290" y="3682652"/>
            <a:ext cx="4409162" cy="1181784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2243318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E523E050-BC46-DC10-BC00-E675B0782174}"/>
              </a:ext>
            </a:extLst>
          </p:cNvPr>
          <p:cNvSpPr txBox="1"/>
          <p:nvPr/>
        </p:nvSpPr>
        <p:spPr>
          <a:xfrm>
            <a:off x="982882" y="773722"/>
            <a:ext cx="12926549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MX" sz="6000" b="1" i="0" u="none" strike="noStrike" cap="none" spc="0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FillTx/>
                <a:latin typeface="Poppins" panose="02000000000000000000" pitchFamily="2" charset="77"/>
                <a:cs typeface="Poppins" panose="02000000000000000000" pitchFamily="2" charset="77"/>
                <a:sym typeface="Helvetica Neue"/>
              </a:rPr>
              <a:t>PROPUESTA: APP GEO</a:t>
            </a:r>
            <a:r>
              <a:rPr kumimoji="0" lang="es-MX" sz="60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Poppins" panose="02000000000000000000" pitchFamily="2" charset="77"/>
                <a:cs typeface="Poppins" panose="02000000000000000000" pitchFamily="2" charset="77"/>
                <a:sym typeface="Helvetica Neue"/>
              </a:rPr>
              <a:t>VISIÓN</a:t>
            </a:r>
            <a:endParaRPr kumimoji="0" lang="es-CL" sz="60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Poppins" panose="02000000000000000000" pitchFamily="2" charset="77"/>
              <a:cs typeface="Poppins" panose="02000000000000000000" pitchFamily="2" charset="77"/>
              <a:sym typeface="Helvetica Neue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BCCEBF5-B266-1E97-DA96-BF6D914E6EF0}"/>
              </a:ext>
            </a:extLst>
          </p:cNvPr>
          <p:cNvSpPr txBox="1"/>
          <p:nvPr/>
        </p:nvSpPr>
        <p:spPr>
          <a:xfrm>
            <a:off x="10524465" y="1937634"/>
            <a:ext cx="5788323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MX" sz="4000" i="0" u="none" strike="noStrike" cap="none" spc="0" normalizeH="0" baseline="0" dirty="0">
                <a:ln>
                  <a:noFill/>
                </a:ln>
                <a:solidFill>
                  <a:srgbClr val="C8A85E"/>
                </a:solidFill>
                <a:effectLst/>
                <a:highlight>
                  <a:srgbClr val="FEFFFC"/>
                </a:highlight>
                <a:uFillTx/>
                <a:latin typeface="Poppins" panose="02000000000000000000" pitchFamily="2" charset="77"/>
                <a:cs typeface="Poppins" panose="02000000000000000000" pitchFamily="2" charset="77"/>
                <a:sym typeface="Helvetica Neue"/>
              </a:rPr>
              <a:t>Básica - gratuita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1339D91D-D488-AB62-CAF4-A1700F763A52}"/>
              </a:ext>
            </a:extLst>
          </p:cNvPr>
          <p:cNvSpPr/>
          <p:nvPr/>
        </p:nvSpPr>
        <p:spPr>
          <a:xfrm>
            <a:off x="563916" y="2761356"/>
            <a:ext cx="8879512" cy="1759476"/>
          </a:xfrm>
          <a:prstGeom prst="roundRect">
            <a:avLst/>
          </a:prstGeom>
          <a:solidFill>
            <a:srgbClr val="E2211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2128A7A-6B5C-2508-FA55-4A971E6EFB37}"/>
              </a:ext>
            </a:extLst>
          </p:cNvPr>
          <p:cNvSpPr txBox="1"/>
          <p:nvPr/>
        </p:nvSpPr>
        <p:spPr>
          <a:xfrm>
            <a:off x="432962" y="3352785"/>
            <a:ext cx="9135884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Calidad y fidelidad de los datos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A03D21C0-D530-D4FA-E1A8-F1119EDBF10D}"/>
              </a:ext>
            </a:extLst>
          </p:cNvPr>
          <p:cNvSpPr/>
          <p:nvPr/>
        </p:nvSpPr>
        <p:spPr>
          <a:xfrm>
            <a:off x="9699801" y="2735002"/>
            <a:ext cx="7142204" cy="175947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B1486FA-CA1E-41DE-E5AE-501C8AF6AA67}"/>
              </a:ext>
            </a:extLst>
          </p:cNvPr>
          <p:cNvSpPr txBox="1"/>
          <p:nvPr/>
        </p:nvSpPr>
        <p:spPr>
          <a:xfrm>
            <a:off x="10917927" y="3071001"/>
            <a:ext cx="5001400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Vulnerable al error humano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2FF62A3-EDA0-D97C-DE4D-8CAAFCA05F05}"/>
              </a:ext>
            </a:extLst>
          </p:cNvPr>
          <p:cNvSpPr txBox="1"/>
          <p:nvPr/>
        </p:nvSpPr>
        <p:spPr>
          <a:xfrm>
            <a:off x="17285180" y="1952479"/>
            <a:ext cx="6317538" cy="1323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MX" sz="4000" dirty="0">
                <a:solidFill>
                  <a:srgbClr val="C8A85E"/>
                </a:solidFill>
                <a:highlight>
                  <a:srgbClr val="FEFFFC"/>
                </a:highlight>
                <a:latin typeface="Poppins" panose="02000000000000000000" pitchFamily="2" charset="77"/>
                <a:cs typeface="Poppins" panose="02000000000000000000" pitchFamily="2" charset="77"/>
              </a:rPr>
              <a:t>Óptima - suscripción</a:t>
            </a:r>
            <a:endParaRPr kumimoji="0" lang="es-MX" sz="4000" i="0" u="none" strike="noStrike" cap="none" spc="0" normalizeH="0" baseline="0" dirty="0">
              <a:ln>
                <a:noFill/>
              </a:ln>
              <a:solidFill>
                <a:srgbClr val="C8A85E"/>
              </a:solidFill>
              <a:effectLst/>
              <a:highlight>
                <a:srgbClr val="FEFFFC"/>
              </a:highlight>
              <a:uFillTx/>
              <a:latin typeface="Poppins" panose="02000000000000000000" pitchFamily="2" charset="77"/>
              <a:cs typeface="Poppins" panose="02000000000000000000" pitchFamily="2" charset="77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MX" sz="4000" i="0" u="none" strike="noStrike" cap="none" spc="0" normalizeH="0" baseline="0" dirty="0">
              <a:ln>
                <a:noFill/>
              </a:ln>
              <a:solidFill>
                <a:srgbClr val="C8A85E"/>
              </a:solidFill>
              <a:effectLst/>
              <a:highlight>
                <a:srgbClr val="FEFFFC"/>
              </a:highlight>
              <a:uFillTx/>
              <a:latin typeface="Poppins" panose="02000000000000000000" pitchFamily="2" charset="77"/>
              <a:cs typeface="Poppins" panose="02000000000000000000" pitchFamily="2" charset="77"/>
              <a:sym typeface="Helvetica Neue"/>
            </a:endParaRP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C10696FF-3400-CF8B-A6E7-AF610F565EE0}"/>
              </a:ext>
            </a:extLst>
          </p:cNvPr>
          <p:cNvSpPr/>
          <p:nvPr/>
        </p:nvSpPr>
        <p:spPr>
          <a:xfrm>
            <a:off x="17137455" y="2745465"/>
            <a:ext cx="6612989" cy="1759476"/>
          </a:xfrm>
          <a:prstGeom prst="roundRect">
            <a:avLst/>
          </a:prstGeom>
          <a:solidFill>
            <a:srgbClr val="113595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9E5D5EA-C85D-86C3-31D8-931FCFB5F4F1}"/>
              </a:ext>
            </a:extLst>
          </p:cNvPr>
          <p:cNvSpPr txBox="1"/>
          <p:nvPr/>
        </p:nvSpPr>
        <p:spPr>
          <a:xfrm>
            <a:off x="18060132" y="3353131"/>
            <a:ext cx="5001400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Blindaje inteligente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ECCA2B1-1784-C5A9-E5CE-A13E5575F382}"/>
              </a:ext>
            </a:extLst>
          </p:cNvPr>
          <p:cNvSpPr/>
          <p:nvPr/>
        </p:nvSpPr>
        <p:spPr>
          <a:xfrm>
            <a:off x="563916" y="4674351"/>
            <a:ext cx="8879512" cy="1759476"/>
          </a:xfrm>
          <a:prstGeom prst="roundRect">
            <a:avLst/>
          </a:prstGeom>
          <a:solidFill>
            <a:srgbClr val="E2211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D27C17E-7CEB-C215-4CF5-25CB50FC174F}"/>
              </a:ext>
            </a:extLst>
          </p:cNvPr>
          <p:cNvSpPr txBox="1"/>
          <p:nvPr/>
        </p:nvSpPr>
        <p:spPr>
          <a:xfrm>
            <a:off x="432962" y="5265780"/>
            <a:ext cx="9135884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Eficiencia BackOffice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380D9D28-9EA8-1BD9-DD77-4ED4C935D736}"/>
              </a:ext>
            </a:extLst>
          </p:cNvPr>
          <p:cNvSpPr/>
          <p:nvPr/>
        </p:nvSpPr>
        <p:spPr>
          <a:xfrm>
            <a:off x="9699801" y="4647997"/>
            <a:ext cx="7142204" cy="175947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A3AFE23-AA77-C22B-1991-6F58E1865D66}"/>
              </a:ext>
            </a:extLst>
          </p:cNvPr>
          <p:cNvSpPr txBox="1"/>
          <p:nvPr/>
        </p:nvSpPr>
        <p:spPr>
          <a:xfrm>
            <a:off x="10917927" y="5230217"/>
            <a:ext cx="5001400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Mantenimiento manual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1599CAB8-B1EE-22DC-840A-EF7E7374AC92}"/>
              </a:ext>
            </a:extLst>
          </p:cNvPr>
          <p:cNvSpPr/>
          <p:nvPr/>
        </p:nvSpPr>
        <p:spPr>
          <a:xfrm>
            <a:off x="17137455" y="4658460"/>
            <a:ext cx="6612989" cy="1759476"/>
          </a:xfrm>
          <a:prstGeom prst="roundRect">
            <a:avLst/>
          </a:prstGeom>
          <a:solidFill>
            <a:srgbClr val="113595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44A60B1-79F2-3E28-88DD-6A6043E4A7F2}"/>
              </a:ext>
            </a:extLst>
          </p:cNvPr>
          <p:cNvSpPr txBox="1"/>
          <p:nvPr/>
        </p:nvSpPr>
        <p:spPr>
          <a:xfrm>
            <a:off x="18060132" y="5266126"/>
            <a:ext cx="5001400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Automatización total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5851F100-CE3A-50F4-B48C-DD230AF18A05}"/>
              </a:ext>
            </a:extLst>
          </p:cNvPr>
          <p:cNvSpPr/>
          <p:nvPr/>
        </p:nvSpPr>
        <p:spPr>
          <a:xfrm>
            <a:off x="563916" y="6621544"/>
            <a:ext cx="8879512" cy="1759476"/>
          </a:xfrm>
          <a:prstGeom prst="roundRect">
            <a:avLst/>
          </a:prstGeom>
          <a:solidFill>
            <a:srgbClr val="E2211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AF40FB1-80D0-C735-2026-61207A5A7AFC}"/>
              </a:ext>
            </a:extLst>
          </p:cNvPr>
          <p:cNvSpPr txBox="1"/>
          <p:nvPr/>
        </p:nvSpPr>
        <p:spPr>
          <a:xfrm>
            <a:off x="432962" y="7212973"/>
            <a:ext cx="9135884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Infraestructura y escalabilidad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2986E2C1-6EBD-9C39-4858-ADDBA1EDE528}"/>
              </a:ext>
            </a:extLst>
          </p:cNvPr>
          <p:cNvSpPr/>
          <p:nvPr/>
        </p:nvSpPr>
        <p:spPr>
          <a:xfrm>
            <a:off x="9699801" y="6595190"/>
            <a:ext cx="7142204" cy="175947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9B76DC2-ED75-97C4-F746-7920030E6321}"/>
              </a:ext>
            </a:extLst>
          </p:cNvPr>
          <p:cNvSpPr txBox="1"/>
          <p:nvPr/>
        </p:nvSpPr>
        <p:spPr>
          <a:xfrm>
            <a:off x="9699800" y="6931189"/>
            <a:ext cx="7142205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Bajo volumen de datos</a:t>
            </a:r>
            <a:b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</a:b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Poca capacidad auditoria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66E5EDBF-C5A6-27E7-84E0-6EAB9AC55787}"/>
              </a:ext>
            </a:extLst>
          </p:cNvPr>
          <p:cNvSpPr/>
          <p:nvPr/>
        </p:nvSpPr>
        <p:spPr>
          <a:xfrm>
            <a:off x="17137455" y="6605653"/>
            <a:ext cx="6612989" cy="1759476"/>
          </a:xfrm>
          <a:prstGeom prst="roundRect">
            <a:avLst/>
          </a:prstGeom>
          <a:solidFill>
            <a:srgbClr val="113595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BC80FA3-4425-41CD-8B24-78AE513C06F7}"/>
              </a:ext>
            </a:extLst>
          </p:cNvPr>
          <p:cNvSpPr txBox="1"/>
          <p:nvPr/>
        </p:nvSpPr>
        <p:spPr>
          <a:xfrm>
            <a:off x="18060132" y="6967098"/>
            <a:ext cx="5001400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Base de datos </a:t>
            </a:r>
            <a:r>
              <a:rPr lang="es-MX" sz="3200" b="0" dirty="0" err="1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Enterprice</a:t>
            </a:r>
            <a:endParaRPr lang="es-MX" sz="3200" b="0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FEA85492-9C7E-4FBA-657C-4121B73E545B}"/>
              </a:ext>
            </a:extLst>
          </p:cNvPr>
          <p:cNvSpPr/>
          <p:nvPr/>
        </p:nvSpPr>
        <p:spPr>
          <a:xfrm>
            <a:off x="563916" y="8568736"/>
            <a:ext cx="8879512" cy="1759476"/>
          </a:xfrm>
          <a:prstGeom prst="roundRect">
            <a:avLst/>
          </a:prstGeom>
          <a:solidFill>
            <a:srgbClr val="E2211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D1275BDD-6003-33A4-ED5A-AD4C7C35B476}"/>
              </a:ext>
            </a:extLst>
          </p:cNvPr>
          <p:cNvSpPr txBox="1"/>
          <p:nvPr/>
        </p:nvSpPr>
        <p:spPr>
          <a:xfrm>
            <a:off x="432962" y="9160165"/>
            <a:ext cx="9135884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Integración con sistema actual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B2F1645D-F815-3294-FD04-677A8878C833}"/>
              </a:ext>
            </a:extLst>
          </p:cNvPr>
          <p:cNvSpPr/>
          <p:nvPr/>
        </p:nvSpPr>
        <p:spPr>
          <a:xfrm>
            <a:off x="9699801" y="8542382"/>
            <a:ext cx="7142204" cy="175947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4011B98E-065D-24AE-14ED-E648B00850D7}"/>
              </a:ext>
            </a:extLst>
          </p:cNvPr>
          <p:cNvSpPr txBox="1"/>
          <p:nvPr/>
        </p:nvSpPr>
        <p:spPr>
          <a:xfrm>
            <a:off x="9699800" y="9124602"/>
            <a:ext cx="7142205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Desconectada</a:t>
            </a:r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3ED4433F-1C5A-B2BC-DA93-EAEAF692221A}"/>
              </a:ext>
            </a:extLst>
          </p:cNvPr>
          <p:cNvSpPr/>
          <p:nvPr/>
        </p:nvSpPr>
        <p:spPr>
          <a:xfrm>
            <a:off x="17137455" y="8552845"/>
            <a:ext cx="6612989" cy="1759476"/>
          </a:xfrm>
          <a:prstGeom prst="roundRect">
            <a:avLst/>
          </a:prstGeom>
          <a:solidFill>
            <a:srgbClr val="113595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0F69FF7C-2485-C098-8753-4A94AF7D165C}"/>
              </a:ext>
            </a:extLst>
          </p:cNvPr>
          <p:cNvSpPr txBox="1"/>
          <p:nvPr/>
        </p:nvSpPr>
        <p:spPr>
          <a:xfrm>
            <a:off x="18060132" y="9160511"/>
            <a:ext cx="5001400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Agilidad en tiempo real</a:t>
            </a:r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7DB829A8-4785-4424-1CEF-9BCF71758D23}"/>
              </a:ext>
            </a:extLst>
          </p:cNvPr>
          <p:cNvSpPr/>
          <p:nvPr/>
        </p:nvSpPr>
        <p:spPr>
          <a:xfrm>
            <a:off x="579451" y="10550439"/>
            <a:ext cx="8879512" cy="1759476"/>
          </a:xfrm>
          <a:prstGeom prst="roundRect">
            <a:avLst/>
          </a:prstGeom>
          <a:solidFill>
            <a:srgbClr val="E2211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C058347-A98D-4EB0-739B-B9F4BE1FB3C1}"/>
              </a:ext>
            </a:extLst>
          </p:cNvPr>
          <p:cNvSpPr txBox="1"/>
          <p:nvPr/>
        </p:nvSpPr>
        <p:spPr>
          <a:xfrm>
            <a:off x="448497" y="11141868"/>
            <a:ext cx="9135884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Inversión y retorno</a:t>
            </a: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E44915AF-D76C-BF8C-4444-6B07FB9632F0}"/>
              </a:ext>
            </a:extLst>
          </p:cNvPr>
          <p:cNvSpPr/>
          <p:nvPr/>
        </p:nvSpPr>
        <p:spPr>
          <a:xfrm>
            <a:off x="9715336" y="10524085"/>
            <a:ext cx="7142204" cy="175947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49C4FE42-BC99-DE7F-5F0C-4DDD8CFE3A47}"/>
              </a:ext>
            </a:extLst>
          </p:cNvPr>
          <p:cNvSpPr txBox="1"/>
          <p:nvPr/>
        </p:nvSpPr>
        <p:spPr>
          <a:xfrm>
            <a:off x="9715335" y="10860084"/>
            <a:ext cx="7142205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$0 costo monetario</a:t>
            </a:r>
            <a:b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</a:b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alto costo operativo</a:t>
            </a:r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3457E6E9-3CFA-1FB1-0133-8E38EC33EB91}"/>
              </a:ext>
            </a:extLst>
          </p:cNvPr>
          <p:cNvSpPr/>
          <p:nvPr/>
        </p:nvSpPr>
        <p:spPr>
          <a:xfrm>
            <a:off x="17152990" y="10534548"/>
            <a:ext cx="6612989" cy="1759476"/>
          </a:xfrm>
          <a:prstGeom prst="roundRect">
            <a:avLst/>
          </a:prstGeom>
          <a:solidFill>
            <a:srgbClr val="113595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72B35F9C-D16D-8461-56DA-C3FBDA99402D}"/>
              </a:ext>
            </a:extLst>
          </p:cNvPr>
          <p:cNvSpPr txBox="1"/>
          <p:nvPr/>
        </p:nvSpPr>
        <p:spPr>
          <a:xfrm>
            <a:off x="18075667" y="10895993"/>
            <a:ext cx="5001400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$5usd mensual por vendedor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515D7346-F205-8E1F-261D-4CB47A669CFD}"/>
              </a:ext>
            </a:extLst>
          </p:cNvPr>
          <p:cNvSpPr txBox="1"/>
          <p:nvPr/>
        </p:nvSpPr>
        <p:spPr>
          <a:xfrm>
            <a:off x="1955739" y="1973169"/>
            <a:ext cx="5788323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MX" sz="4000" i="0" u="none" strike="noStrike" cap="none" spc="0" normalizeH="0" baseline="0" dirty="0">
                <a:ln>
                  <a:noFill/>
                </a:ln>
                <a:solidFill>
                  <a:srgbClr val="C8A85E"/>
                </a:solidFill>
                <a:effectLst/>
                <a:highlight>
                  <a:srgbClr val="FEFFFC"/>
                </a:highlight>
                <a:uFillTx/>
                <a:latin typeface="Poppins" panose="02000000000000000000" pitchFamily="2" charset="77"/>
                <a:cs typeface="Poppins" panose="02000000000000000000" pitchFamily="2" charset="77"/>
                <a:sym typeface="Helvetica Neue"/>
              </a:rPr>
              <a:t>Factor de negocio</a:t>
            </a:r>
          </a:p>
        </p:txBody>
      </p:sp>
    </p:spTree>
    <p:extLst>
      <p:ext uri="{BB962C8B-B14F-4D97-AF65-F5344CB8AC3E}">
        <p14:creationId xmlns:p14="http://schemas.microsoft.com/office/powerpoint/2010/main" val="34315631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1A625594-A500-2E06-02B7-4570CD879DC0}"/>
              </a:ext>
            </a:extLst>
          </p:cNvPr>
          <p:cNvSpPr/>
          <p:nvPr/>
        </p:nvSpPr>
        <p:spPr>
          <a:xfrm>
            <a:off x="16301447" y="3142941"/>
            <a:ext cx="6715689" cy="2179320"/>
          </a:xfrm>
          <a:prstGeom prst="roundRect">
            <a:avLst/>
          </a:prstGeom>
          <a:solidFill>
            <a:srgbClr val="E2211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6B572C2-A4FC-8BB0-7BFA-8291C55B1597}"/>
              </a:ext>
            </a:extLst>
          </p:cNvPr>
          <p:cNvSpPr txBox="1"/>
          <p:nvPr/>
        </p:nvSpPr>
        <p:spPr>
          <a:xfrm>
            <a:off x="982882" y="773722"/>
            <a:ext cx="18305782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MX" sz="6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Escalabilidad y visión futura </a:t>
            </a:r>
            <a:r>
              <a:rPr lang="es-MX" sz="6000" dirty="0">
                <a:solidFill>
                  <a:srgbClr val="C00000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VERSION GRATIS</a:t>
            </a:r>
            <a:endParaRPr kumimoji="0" lang="es-CL" sz="60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Poppins" panose="02000000000000000000" pitchFamily="2" charset="77"/>
              <a:cs typeface="Poppins" panose="02000000000000000000" pitchFamily="2" charset="77"/>
              <a:sym typeface="Helvetica Neue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9A4D9512-C67D-EA73-68A1-D81A7C200605}"/>
              </a:ext>
            </a:extLst>
          </p:cNvPr>
          <p:cNvSpPr/>
          <p:nvPr/>
        </p:nvSpPr>
        <p:spPr>
          <a:xfrm>
            <a:off x="659844" y="3144420"/>
            <a:ext cx="6715689" cy="2179320"/>
          </a:xfrm>
          <a:prstGeom prst="roundRect">
            <a:avLst/>
          </a:prstGeom>
          <a:solidFill>
            <a:srgbClr val="E2211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B5A0B52-53C7-7EDA-6266-4AD1F8AAA0F5}"/>
              </a:ext>
            </a:extLst>
          </p:cNvPr>
          <p:cNvSpPr txBox="1"/>
          <p:nvPr/>
        </p:nvSpPr>
        <p:spPr>
          <a:xfrm>
            <a:off x="982882" y="1837074"/>
            <a:ext cx="8678703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MX" sz="4000" i="0" u="none" strike="noStrike" cap="none" spc="0" normalizeH="0" baseline="0" dirty="0">
                <a:ln>
                  <a:noFill/>
                </a:ln>
                <a:solidFill>
                  <a:srgbClr val="C8A85E"/>
                </a:solidFill>
                <a:effectLst/>
                <a:highlight>
                  <a:srgbClr val="FEFFFC"/>
                </a:highlight>
                <a:uFillTx/>
                <a:latin typeface="Poppins" panose="02000000000000000000" pitchFamily="2" charset="77"/>
                <a:cs typeface="Poppins" panose="02000000000000000000" pitchFamily="2" charset="77"/>
                <a:sym typeface="Helvetica Neue"/>
              </a:rPr>
              <a:t>ROADMAP Y ACTUALIZACIONES</a:t>
            </a:r>
            <a:endParaRPr kumimoji="0" lang="es-CL" sz="4000" i="0" u="none" strike="noStrike" cap="none" spc="0" normalizeH="0" baseline="0" dirty="0">
              <a:ln>
                <a:noFill/>
              </a:ln>
              <a:solidFill>
                <a:srgbClr val="C8A85E"/>
              </a:solidFill>
              <a:effectLst/>
              <a:highlight>
                <a:srgbClr val="FEFFFC"/>
              </a:highlight>
              <a:uFillTx/>
              <a:latin typeface="Poppins" panose="02000000000000000000" pitchFamily="2" charset="77"/>
              <a:cs typeface="Poppins" panose="02000000000000000000" pitchFamily="2" charset="77"/>
              <a:sym typeface="Helvetica Neue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34DCC79-A0EA-3832-7868-95BF60F61490}"/>
              </a:ext>
            </a:extLst>
          </p:cNvPr>
          <p:cNvSpPr txBox="1"/>
          <p:nvPr/>
        </p:nvSpPr>
        <p:spPr>
          <a:xfrm>
            <a:off x="659846" y="3334241"/>
            <a:ext cx="6715687" cy="5864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FASE 1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0F5FE20-A653-15E1-4EA9-2F79DE4838D3}"/>
              </a:ext>
            </a:extLst>
          </p:cNvPr>
          <p:cNvSpPr txBox="1"/>
          <p:nvPr/>
        </p:nvSpPr>
        <p:spPr>
          <a:xfrm>
            <a:off x="659844" y="3866984"/>
            <a:ext cx="6715689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Estabilización estructural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A8A7BD8-5916-1353-6B9D-EEFD5BFFD3CE}"/>
              </a:ext>
            </a:extLst>
          </p:cNvPr>
          <p:cNvSpPr txBox="1"/>
          <p:nvPr/>
        </p:nvSpPr>
        <p:spPr>
          <a:xfrm>
            <a:off x="688805" y="6849900"/>
            <a:ext cx="4114685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LLENAR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7181EDF-5FB0-3D38-24FD-5F00719B7E1B}"/>
              </a:ext>
            </a:extLst>
          </p:cNvPr>
          <p:cNvSpPr txBox="1"/>
          <p:nvPr/>
        </p:nvSpPr>
        <p:spPr>
          <a:xfrm>
            <a:off x="729587" y="6149572"/>
            <a:ext cx="4308133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SEMANA 1</a:t>
            </a: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3CB14C64-B8FF-6AC1-D2A3-7354996DA360}"/>
              </a:ext>
            </a:extLst>
          </p:cNvPr>
          <p:cNvSpPr/>
          <p:nvPr/>
        </p:nvSpPr>
        <p:spPr>
          <a:xfrm>
            <a:off x="1718693" y="5734296"/>
            <a:ext cx="4436495" cy="6366510"/>
          </a:xfrm>
          <a:prstGeom prst="roundRect">
            <a:avLst/>
          </a:prstGeom>
          <a:solidFill>
            <a:srgbClr val="E2211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MX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7F6020C-25B0-4FC1-5ECC-155F672C22FA}"/>
              </a:ext>
            </a:extLst>
          </p:cNvPr>
          <p:cNvSpPr/>
          <p:nvPr/>
        </p:nvSpPr>
        <p:spPr>
          <a:xfrm>
            <a:off x="8420525" y="3142941"/>
            <a:ext cx="6715689" cy="2179320"/>
          </a:xfrm>
          <a:prstGeom prst="roundRect">
            <a:avLst/>
          </a:prstGeom>
          <a:solidFill>
            <a:srgbClr val="072D9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C1755093-F2BF-83BE-C7E0-31D670326C90}"/>
              </a:ext>
            </a:extLst>
          </p:cNvPr>
          <p:cNvSpPr txBox="1"/>
          <p:nvPr/>
        </p:nvSpPr>
        <p:spPr>
          <a:xfrm>
            <a:off x="5397639" y="6149572"/>
            <a:ext cx="4249937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SEMANA 2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50B7621F-3E5B-F95F-D747-910B4004AFBD}"/>
              </a:ext>
            </a:extLst>
          </p:cNvPr>
          <p:cNvSpPr txBox="1"/>
          <p:nvPr/>
        </p:nvSpPr>
        <p:spPr>
          <a:xfrm>
            <a:off x="8399491" y="3263962"/>
            <a:ext cx="6559222" cy="6030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FASE 2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526A033B-5B3E-5F5A-88C3-810E293C7D0C}"/>
              </a:ext>
            </a:extLst>
          </p:cNvPr>
          <p:cNvSpPr txBox="1"/>
          <p:nvPr/>
        </p:nvSpPr>
        <p:spPr>
          <a:xfrm>
            <a:off x="8576993" y="3822479"/>
            <a:ext cx="6559222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Validaciones y seguridad en terreno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15D1A138-F9FE-4F1A-74EA-BA1A8C3BB307}"/>
              </a:ext>
            </a:extLst>
          </p:cNvPr>
          <p:cNvSpPr txBox="1"/>
          <p:nvPr/>
        </p:nvSpPr>
        <p:spPr>
          <a:xfrm>
            <a:off x="1687432" y="6120128"/>
            <a:ext cx="4308133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SEMANAS 1 - 2</a:t>
            </a: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87BA1EC5-E8BD-B122-DE5C-9C392383054F}"/>
              </a:ext>
            </a:extLst>
          </p:cNvPr>
          <p:cNvSpPr/>
          <p:nvPr/>
        </p:nvSpPr>
        <p:spPr>
          <a:xfrm>
            <a:off x="19227971" y="4811350"/>
            <a:ext cx="862640" cy="796468"/>
          </a:xfrm>
          <a:prstGeom prst="ellipse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932B32C8-C32B-1888-E36E-0DC9C345F651}"/>
              </a:ext>
            </a:extLst>
          </p:cNvPr>
          <p:cNvSpPr/>
          <p:nvPr/>
        </p:nvSpPr>
        <p:spPr>
          <a:xfrm>
            <a:off x="11347050" y="4883257"/>
            <a:ext cx="862640" cy="796468"/>
          </a:xfrm>
          <a:prstGeom prst="ellipse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6FBA3A9F-50E4-63A7-AE00-82FF658BE2F8}"/>
              </a:ext>
            </a:extLst>
          </p:cNvPr>
          <p:cNvCxnSpPr>
            <a:cxnSpLocks/>
          </p:cNvCxnSpPr>
          <p:nvPr/>
        </p:nvCxnSpPr>
        <p:spPr>
          <a:xfrm>
            <a:off x="3936941" y="5295392"/>
            <a:ext cx="21181003" cy="0"/>
          </a:xfrm>
          <a:prstGeom prst="straightConnector1">
            <a:avLst/>
          </a:prstGeom>
          <a:noFill/>
          <a:ln w="254000" cap="flat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oval" w="med" len="med"/>
            <a:tailEnd type="triangl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B85AC097-68B0-78AD-7BAC-96F53A05BB5C}"/>
              </a:ext>
            </a:extLst>
          </p:cNvPr>
          <p:cNvSpPr/>
          <p:nvPr/>
        </p:nvSpPr>
        <p:spPr>
          <a:xfrm>
            <a:off x="9638356" y="5806303"/>
            <a:ext cx="4436495" cy="6366510"/>
          </a:xfrm>
          <a:prstGeom prst="roundRect">
            <a:avLst/>
          </a:prstGeom>
          <a:solidFill>
            <a:srgbClr val="E2211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MX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DD0B48C7-9E34-FB7A-04BD-B6CB999B1276}"/>
              </a:ext>
            </a:extLst>
          </p:cNvPr>
          <p:cNvSpPr/>
          <p:nvPr/>
        </p:nvSpPr>
        <p:spPr>
          <a:xfrm>
            <a:off x="17441043" y="5734296"/>
            <a:ext cx="4436495" cy="6366510"/>
          </a:xfrm>
          <a:prstGeom prst="roundRect">
            <a:avLst/>
          </a:prstGeom>
          <a:solidFill>
            <a:srgbClr val="E2211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MX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694116A-FC4A-DD3A-E2A2-51C028B91761}"/>
              </a:ext>
            </a:extLst>
          </p:cNvPr>
          <p:cNvSpPr txBox="1"/>
          <p:nvPr/>
        </p:nvSpPr>
        <p:spPr>
          <a:xfrm>
            <a:off x="1824554" y="6923573"/>
            <a:ext cx="4413268" cy="1569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Optimización de la interfaz y variables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E5B0653-5B54-75E1-A011-56517889E23F}"/>
              </a:ext>
            </a:extLst>
          </p:cNvPr>
          <p:cNvSpPr txBox="1"/>
          <p:nvPr/>
        </p:nvSpPr>
        <p:spPr>
          <a:xfrm>
            <a:off x="9636736" y="6149004"/>
            <a:ext cx="4308133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SEMANA 3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792A05D-786C-5FD1-97C2-9153CFFA8854}"/>
              </a:ext>
            </a:extLst>
          </p:cNvPr>
          <p:cNvSpPr txBox="1"/>
          <p:nvPr/>
        </p:nvSpPr>
        <p:spPr>
          <a:xfrm>
            <a:off x="9661585" y="6843040"/>
            <a:ext cx="4413267" cy="30469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Filtro </a:t>
            </a:r>
            <a:r>
              <a:rPr lang="es-MX" sz="3200" b="0" dirty="0" err="1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antiduplicados</a:t>
            </a:r>
            <a:endParaRPr lang="es-MX" sz="3200" b="0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MX" sz="3200" b="0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Validaciones manuales de dirección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39CD263-B176-C699-A234-C1D49CB1DB5E}"/>
              </a:ext>
            </a:extLst>
          </p:cNvPr>
          <p:cNvSpPr txBox="1"/>
          <p:nvPr/>
        </p:nvSpPr>
        <p:spPr>
          <a:xfrm>
            <a:off x="17569405" y="6149004"/>
            <a:ext cx="4308133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SEMANA 4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6685D25-9615-B87D-7C1A-AD2D8555AC6D}"/>
              </a:ext>
            </a:extLst>
          </p:cNvPr>
          <p:cNvSpPr txBox="1"/>
          <p:nvPr/>
        </p:nvSpPr>
        <p:spPr>
          <a:xfrm>
            <a:off x="17569405" y="6834756"/>
            <a:ext cx="4413267" cy="4524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Notificaciones automáticas por SharePoint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s-MX" sz="3200" b="0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Clínica de aprendizaje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s-MX" sz="3200" b="0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Implementación escalada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DB355DD-2CE5-C703-FBF8-3E0FD9C97A13}"/>
              </a:ext>
            </a:extLst>
          </p:cNvPr>
          <p:cNvSpPr txBox="1"/>
          <p:nvPr/>
        </p:nvSpPr>
        <p:spPr>
          <a:xfrm>
            <a:off x="16254100" y="3224380"/>
            <a:ext cx="6559222" cy="6030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FASE 3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B617DDD-83D7-9BF7-3BD2-8C75833968B0}"/>
              </a:ext>
            </a:extLst>
          </p:cNvPr>
          <p:cNvSpPr txBox="1"/>
          <p:nvPr/>
        </p:nvSpPr>
        <p:spPr>
          <a:xfrm>
            <a:off x="16443860" y="3740595"/>
            <a:ext cx="6559222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Flujos de revisión, implementación</a:t>
            </a:r>
          </a:p>
        </p:txBody>
      </p:sp>
    </p:spTree>
    <p:extLst>
      <p:ext uri="{BB962C8B-B14F-4D97-AF65-F5344CB8AC3E}">
        <p14:creationId xmlns:p14="http://schemas.microsoft.com/office/powerpoint/2010/main" val="359009648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43A7DE51-C60A-A518-A2C0-E5A4CDECB96A}"/>
              </a:ext>
            </a:extLst>
          </p:cNvPr>
          <p:cNvSpPr/>
          <p:nvPr/>
        </p:nvSpPr>
        <p:spPr>
          <a:xfrm>
            <a:off x="585164" y="5855656"/>
            <a:ext cx="4436495" cy="6366510"/>
          </a:xfrm>
          <a:prstGeom prst="roundRect">
            <a:avLst/>
          </a:prstGeom>
          <a:solidFill>
            <a:srgbClr val="E2211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MX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6B572C2-A4FC-8BB0-7BFA-8291C55B1597}"/>
              </a:ext>
            </a:extLst>
          </p:cNvPr>
          <p:cNvSpPr txBox="1"/>
          <p:nvPr/>
        </p:nvSpPr>
        <p:spPr>
          <a:xfrm>
            <a:off x="982882" y="773722"/>
            <a:ext cx="19153796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MX" sz="6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Escalabilidad y visión futura </a:t>
            </a:r>
            <a:r>
              <a:rPr lang="es-MX" sz="6000" dirty="0">
                <a:solidFill>
                  <a:srgbClr val="C00000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VERSION PREMIUM</a:t>
            </a:r>
            <a:endParaRPr kumimoji="0" lang="es-CL" sz="60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Poppins" panose="02000000000000000000" pitchFamily="2" charset="77"/>
              <a:cs typeface="Poppins" panose="02000000000000000000" pitchFamily="2" charset="77"/>
              <a:sym typeface="Helvetica Neue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9A4D9512-C67D-EA73-68A1-D81A7C200605}"/>
              </a:ext>
            </a:extLst>
          </p:cNvPr>
          <p:cNvSpPr/>
          <p:nvPr/>
        </p:nvSpPr>
        <p:spPr>
          <a:xfrm>
            <a:off x="659844" y="3144420"/>
            <a:ext cx="9018993" cy="2179320"/>
          </a:xfrm>
          <a:prstGeom prst="roundRect">
            <a:avLst/>
          </a:prstGeom>
          <a:solidFill>
            <a:srgbClr val="E2211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B5A0B52-53C7-7EDA-6266-4AD1F8AAA0F5}"/>
              </a:ext>
            </a:extLst>
          </p:cNvPr>
          <p:cNvSpPr txBox="1"/>
          <p:nvPr/>
        </p:nvSpPr>
        <p:spPr>
          <a:xfrm>
            <a:off x="982882" y="1837074"/>
            <a:ext cx="8678703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MX" sz="4000" i="0" u="none" strike="noStrike" cap="none" spc="0" normalizeH="0" baseline="0" dirty="0">
                <a:ln>
                  <a:noFill/>
                </a:ln>
                <a:solidFill>
                  <a:srgbClr val="C8A85E"/>
                </a:solidFill>
                <a:effectLst/>
                <a:highlight>
                  <a:srgbClr val="FEFFFC"/>
                </a:highlight>
                <a:uFillTx/>
                <a:latin typeface="Poppins" panose="02000000000000000000" pitchFamily="2" charset="77"/>
                <a:cs typeface="Poppins" panose="02000000000000000000" pitchFamily="2" charset="77"/>
                <a:sym typeface="Helvetica Neue"/>
              </a:rPr>
              <a:t>ROADMAP Y ACTUALIZACIONES</a:t>
            </a:r>
            <a:endParaRPr kumimoji="0" lang="es-CL" sz="4000" i="0" u="none" strike="noStrike" cap="none" spc="0" normalizeH="0" baseline="0" dirty="0">
              <a:ln>
                <a:noFill/>
              </a:ln>
              <a:solidFill>
                <a:srgbClr val="C8A85E"/>
              </a:solidFill>
              <a:effectLst/>
              <a:highlight>
                <a:srgbClr val="FEFFFC"/>
              </a:highlight>
              <a:uFillTx/>
              <a:latin typeface="Poppins" panose="02000000000000000000" pitchFamily="2" charset="77"/>
              <a:cs typeface="Poppins" panose="02000000000000000000" pitchFamily="2" charset="77"/>
              <a:sym typeface="Helvetica Neue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34DCC79-A0EA-3832-7868-95BF60F61490}"/>
              </a:ext>
            </a:extLst>
          </p:cNvPr>
          <p:cNvSpPr txBox="1"/>
          <p:nvPr/>
        </p:nvSpPr>
        <p:spPr>
          <a:xfrm>
            <a:off x="659845" y="3334241"/>
            <a:ext cx="9018993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FASE 1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0F5FE20-A653-15E1-4EA9-2F79DE4838D3}"/>
              </a:ext>
            </a:extLst>
          </p:cNvPr>
          <p:cNvSpPr txBox="1"/>
          <p:nvPr/>
        </p:nvSpPr>
        <p:spPr>
          <a:xfrm>
            <a:off x="659844" y="3866984"/>
            <a:ext cx="9018993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Arquitectura premium </a:t>
            </a:r>
            <a:b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</a:b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y gobernanza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A8A7BD8-5916-1353-6B9D-EEFD5BFFD3CE}"/>
              </a:ext>
            </a:extLst>
          </p:cNvPr>
          <p:cNvSpPr txBox="1"/>
          <p:nvPr/>
        </p:nvSpPr>
        <p:spPr>
          <a:xfrm>
            <a:off x="688805" y="6849900"/>
            <a:ext cx="4114685" cy="4524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 err="1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Aplication</a:t>
            </a: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 </a:t>
            </a:r>
            <a:r>
              <a:rPr lang="es-MX" sz="3200" b="0" dirty="0" err="1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lifecycle</a:t>
            </a: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 </a:t>
            </a:r>
            <a:r>
              <a:rPr lang="es-MX" sz="3200" b="0" dirty="0" err="1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management</a:t>
            </a:r>
            <a:endParaRPr lang="es-MX" sz="3200" b="0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s-MX" sz="3200" b="0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Migración a </a:t>
            </a:r>
            <a:r>
              <a:rPr lang="es-MX" sz="3200" b="0" dirty="0" err="1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dataverse</a:t>
            </a:r>
            <a:endParaRPr lang="es-MX" sz="3200" b="0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s-MX" sz="3200" b="0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Refactorización estructural base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7181EDF-5FB0-3D38-24FD-5F00719B7E1B}"/>
              </a:ext>
            </a:extLst>
          </p:cNvPr>
          <p:cNvSpPr txBox="1"/>
          <p:nvPr/>
        </p:nvSpPr>
        <p:spPr>
          <a:xfrm>
            <a:off x="729587" y="6149572"/>
            <a:ext cx="4308133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SEMANA 1</a:t>
            </a: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3CB14C64-B8FF-6AC1-D2A3-7354996DA360}"/>
              </a:ext>
            </a:extLst>
          </p:cNvPr>
          <p:cNvSpPr/>
          <p:nvPr/>
        </p:nvSpPr>
        <p:spPr>
          <a:xfrm>
            <a:off x="5242342" y="5858987"/>
            <a:ext cx="4436495" cy="6366510"/>
          </a:xfrm>
          <a:prstGeom prst="roundRect">
            <a:avLst/>
          </a:prstGeom>
          <a:solidFill>
            <a:srgbClr val="E2211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MX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D64F5ACF-F753-CD2E-9A0B-A4B1F126CBAF}"/>
              </a:ext>
            </a:extLst>
          </p:cNvPr>
          <p:cNvSpPr txBox="1"/>
          <p:nvPr/>
        </p:nvSpPr>
        <p:spPr>
          <a:xfrm>
            <a:off x="5356856" y="6644837"/>
            <a:ext cx="4321981" cy="60016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Sincronización offline nativa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s-MX" sz="3200" b="0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Mapas y </a:t>
            </a:r>
            <a:r>
              <a:rPr lang="es-MX" sz="3200" b="0" dirty="0" err="1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address</a:t>
            </a: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 input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s-MX" sz="3200" b="0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Validación SII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s-MX" sz="3200" b="0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Perfiles de seguridad estrictos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s-MX" sz="3200" b="0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C1755093-F2BF-83BE-C7E0-31D670326C90}"/>
              </a:ext>
            </a:extLst>
          </p:cNvPr>
          <p:cNvSpPr txBox="1"/>
          <p:nvPr/>
        </p:nvSpPr>
        <p:spPr>
          <a:xfrm>
            <a:off x="5397639" y="6149572"/>
            <a:ext cx="4249937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SEMANA 2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F6D03234-1148-BAE2-A01D-81052329ECB2}"/>
              </a:ext>
            </a:extLst>
          </p:cNvPr>
          <p:cNvSpPr/>
          <p:nvPr/>
        </p:nvSpPr>
        <p:spPr>
          <a:xfrm>
            <a:off x="6996281" y="4944512"/>
            <a:ext cx="862640" cy="796468"/>
          </a:xfrm>
          <a:prstGeom prst="ellipse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556F3EEE-E2C1-8C52-3E95-77BC9432A04E}"/>
              </a:ext>
            </a:extLst>
          </p:cNvPr>
          <p:cNvSpPr/>
          <p:nvPr/>
        </p:nvSpPr>
        <p:spPr>
          <a:xfrm>
            <a:off x="9835757" y="5890043"/>
            <a:ext cx="4436495" cy="6366510"/>
          </a:xfrm>
          <a:prstGeom prst="roundRect">
            <a:avLst/>
          </a:prstGeom>
          <a:solidFill>
            <a:srgbClr val="113595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MX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BB236D0B-DFCA-A337-97DF-D71BC9DDF299}"/>
              </a:ext>
            </a:extLst>
          </p:cNvPr>
          <p:cNvSpPr/>
          <p:nvPr/>
        </p:nvSpPr>
        <p:spPr>
          <a:xfrm>
            <a:off x="9835757" y="3144420"/>
            <a:ext cx="13349478" cy="2179320"/>
          </a:xfrm>
          <a:prstGeom prst="roundRect">
            <a:avLst/>
          </a:prstGeom>
          <a:solidFill>
            <a:srgbClr val="113595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50B7621F-3E5B-F95F-D747-910B4004AFBD}"/>
              </a:ext>
            </a:extLst>
          </p:cNvPr>
          <p:cNvSpPr txBox="1"/>
          <p:nvPr/>
        </p:nvSpPr>
        <p:spPr>
          <a:xfrm>
            <a:off x="9835757" y="3334241"/>
            <a:ext cx="13349479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FASE 2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526A033B-5B3E-5F5A-88C3-810E293C7D0C}"/>
              </a:ext>
            </a:extLst>
          </p:cNvPr>
          <p:cNvSpPr txBox="1"/>
          <p:nvPr/>
        </p:nvSpPr>
        <p:spPr>
          <a:xfrm>
            <a:off x="9835756" y="3866984"/>
            <a:ext cx="13349479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Integración CRM y </a:t>
            </a:r>
            <a:b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</a:b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blindaje con IA 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E83E0ECC-090E-0DD4-F080-7407F2073A61}"/>
              </a:ext>
            </a:extLst>
          </p:cNvPr>
          <p:cNvSpPr txBox="1"/>
          <p:nvPr/>
        </p:nvSpPr>
        <p:spPr>
          <a:xfrm>
            <a:off x="9910438" y="6884287"/>
            <a:ext cx="4370120" cy="4031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Desarrollo de API dedicada (SOM)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s-MX" sz="3200" b="0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Muro </a:t>
            </a:r>
            <a:r>
              <a:rPr lang="es-MX" sz="3200" b="0" dirty="0" err="1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antiduplicados</a:t>
            </a:r>
            <a:endParaRPr lang="es-MX" sz="3200" b="0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s-MX" sz="3200" b="0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Sistema de reactivación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15D1A138-F9FE-4F1A-74EA-BA1A8C3BB307}"/>
              </a:ext>
            </a:extLst>
          </p:cNvPr>
          <p:cNvSpPr txBox="1"/>
          <p:nvPr/>
        </p:nvSpPr>
        <p:spPr>
          <a:xfrm>
            <a:off x="9980180" y="6183959"/>
            <a:ext cx="4308133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SEMANA 3 - 4</a:t>
            </a: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B34CC6C0-BB41-F23D-CE01-FA7B2B19E798}"/>
              </a:ext>
            </a:extLst>
          </p:cNvPr>
          <p:cNvSpPr/>
          <p:nvPr/>
        </p:nvSpPr>
        <p:spPr>
          <a:xfrm>
            <a:off x="14527443" y="5893374"/>
            <a:ext cx="4436495" cy="6366510"/>
          </a:xfrm>
          <a:prstGeom prst="roundRect">
            <a:avLst/>
          </a:prstGeom>
          <a:solidFill>
            <a:srgbClr val="113595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MX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2FC3DC7B-EBFC-1A51-7E91-5F2FBC89ECEC}"/>
              </a:ext>
            </a:extLst>
          </p:cNvPr>
          <p:cNvSpPr txBox="1"/>
          <p:nvPr/>
        </p:nvSpPr>
        <p:spPr>
          <a:xfrm>
            <a:off x="14641958" y="6401208"/>
            <a:ext cx="4286184" cy="4031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endParaRPr lang="es-MX" sz="3200" b="0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 err="1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Prompting</a:t>
            </a: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 inteligente de giro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s-MX" sz="3200" b="0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Extracción inteligente con IA en la creación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DB9796E7-1209-8C5D-C2C3-FD55CA6184B4}"/>
              </a:ext>
            </a:extLst>
          </p:cNvPr>
          <p:cNvSpPr txBox="1"/>
          <p:nvPr/>
        </p:nvSpPr>
        <p:spPr>
          <a:xfrm>
            <a:off x="14682740" y="6183959"/>
            <a:ext cx="4249937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SEMANA 5 - 6</a:t>
            </a: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87BA1EC5-E8BD-B122-DE5C-9C392383054F}"/>
              </a:ext>
            </a:extLst>
          </p:cNvPr>
          <p:cNvSpPr/>
          <p:nvPr/>
        </p:nvSpPr>
        <p:spPr>
          <a:xfrm>
            <a:off x="16353730" y="4925506"/>
            <a:ext cx="862640" cy="796468"/>
          </a:xfrm>
          <a:prstGeom prst="ellipse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932B32C8-C32B-1888-E36E-0DC9C345F651}"/>
              </a:ext>
            </a:extLst>
          </p:cNvPr>
          <p:cNvSpPr/>
          <p:nvPr/>
        </p:nvSpPr>
        <p:spPr>
          <a:xfrm>
            <a:off x="11702926" y="4877457"/>
            <a:ext cx="862640" cy="796468"/>
          </a:xfrm>
          <a:prstGeom prst="ellipse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6FBA3A9F-50E4-63A7-AE00-82FF658BE2F8}"/>
              </a:ext>
            </a:extLst>
          </p:cNvPr>
          <p:cNvCxnSpPr>
            <a:cxnSpLocks/>
          </p:cNvCxnSpPr>
          <p:nvPr/>
        </p:nvCxnSpPr>
        <p:spPr>
          <a:xfrm>
            <a:off x="3007465" y="5281926"/>
            <a:ext cx="21181003" cy="0"/>
          </a:xfrm>
          <a:prstGeom prst="straightConnector1">
            <a:avLst/>
          </a:prstGeom>
          <a:noFill/>
          <a:ln w="254000" cap="flat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oval" w="med" len="med"/>
            <a:tailEnd type="triangl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2" name="Rectángulo: esquinas redondeadas 51">
            <a:extLst>
              <a:ext uri="{FF2B5EF4-FFF2-40B4-BE49-F238E27FC236}">
                <a16:creationId xmlns:a16="http://schemas.microsoft.com/office/drawing/2014/main" id="{43A7DE51-C60A-A518-A2C0-E5A4CDECB96A}"/>
              </a:ext>
            </a:extLst>
          </p:cNvPr>
          <p:cNvSpPr/>
          <p:nvPr/>
        </p:nvSpPr>
        <p:spPr>
          <a:xfrm>
            <a:off x="19116136" y="5855656"/>
            <a:ext cx="4069099" cy="6366510"/>
          </a:xfrm>
          <a:prstGeom prst="roundRect">
            <a:avLst/>
          </a:prstGeom>
          <a:solidFill>
            <a:srgbClr val="113595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MX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2A8A7BD8-5916-1353-6B9D-EEFD5BFFD3CE}"/>
              </a:ext>
            </a:extLst>
          </p:cNvPr>
          <p:cNvSpPr txBox="1"/>
          <p:nvPr/>
        </p:nvSpPr>
        <p:spPr>
          <a:xfrm>
            <a:off x="19219777" y="6849900"/>
            <a:ext cx="3984612" cy="5016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u="sng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Lead </a:t>
            </a:r>
            <a:r>
              <a:rPr lang="es-MX" sz="3200" u="sng" dirty="0" err="1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Scoring</a:t>
            </a:r>
            <a:r>
              <a:rPr lang="es-MX" sz="3200" u="sng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 Q1</a:t>
            </a:r>
          </a:p>
          <a:p>
            <a:pPr lvl="1" indent="0"/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El objetivo es que la IA cruce el giro, coordenadas y dirección para arrojar una etiqueta tipo:</a:t>
            </a:r>
            <a:b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</a:br>
            <a:endParaRPr lang="es-MX" sz="3200" b="0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lvl="1" indent="0"/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SCORE Q1 PROBABLE 95%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67181EDF-5FB0-3D38-24FD-5F00719B7E1B}"/>
              </a:ext>
            </a:extLst>
          </p:cNvPr>
          <p:cNvSpPr txBox="1"/>
          <p:nvPr/>
        </p:nvSpPr>
        <p:spPr>
          <a:xfrm>
            <a:off x="19260559" y="6149572"/>
            <a:ext cx="3951367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SEMANA 7 - 8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E5FC006F-5C3C-76D8-C1D5-D70048883056}"/>
              </a:ext>
            </a:extLst>
          </p:cNvPr>
          <p:cNvSpPr/>
          <p:nvPr/>
        </p:nvSpPr>
        <p:spPr>
          <a:xfrm>
            <a:off x="20783728" y="4940188"/>
            <a:ext cx="862640" cy="796468"/>
          </a:xfrm>
          <a:prstGeom prst="ellipse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1997155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6B572C2-A4FC-8BB0-7BFA-8291C55B1597}"/>
              </a:ext>
            </a:extLst>
          </p:cNvPr>
          <p:cNvSpPr txBox="1"/>
          <p:nvPr/>
        </p:nvSpPr>
        <p:spPr>
          <a:xfrm>
            <a:off x="982881" y="773722"/>
            <a:ext cx="19849535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s-MX" sz="6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Escalabilidad y visión futura </a:t>
            </a:r>
            <a:r>
              <a:rPr lang="es-MX" sz="6000" dirty="0">
                <a:solidFill>
                  <a:srgbClr val="C00000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VERSION PREMIUM</a:t>
            </a:r>
            <a:endParaRPr lang="es-CL" sz="6000" dirty="0">
              <a:solidFill>
                <a:srgbClr val="C00000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9A4D9512-C67D-EA73-68A1-D81A7C200605}"/>
              </a:ext>
            </a:extLst>
          </p:cNvPr>
          <p:cNvSpPr/>
          <p:nvPr/>
        </p:nvSpPr>
        <p:spPr>
          <a:xfrm>
            <a:off x="659843" y="3144420"/>
            <a:ext cx="22562465" cy="2179320"/>
          </a:xfrm>
          <a:prstGeom prst="roundRect">
            <a:avLst/>
          </a:prstGeom>
          <a:solidFill>
            <a:srgbClr val="E2211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B5A0B52-53C7-7EDA-6266-4AD1F8AAA0F5}"/>
              </a:ext>
            </a:extLst>
          </p:cNvPr>
          <p:cNvSpPr txBox="1"/>
          <p:nvPr/>
        </p:nvSpPr>
        <p:spPr>
          <a:xfrm>
            <a:off x="982882" y="1837074"/>
            <a:ext cx="8678703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MX" sz="4000" i="0" u="none" strike="noStrike" cap="none" spc="0" normalizeH="0" baseline="0" dirty="0">
                <a:ln>
                  <a:noFill/>
                </a:ln>
                <a:solidFill>
                  <a:srgbClr val="C8A85E"/>
                </a:solidFill>
                <a:effectLst/>
                <a:highlight>
                  <a:srgbClr val="FEFFFC"/>
                </a:highlight>
                <a:uFillTx/>
                <a:latin typeface="Poppins" panose="02000000000000000000" pitchFamily="2" charset="77"/>
                <a:cs typeface="Poppins" panose="02000000000000000000" pitchFamily="2" charset="77"/>
                <a:sym typeface="Helvetica Neue"/>
              </a:rPr>
              <a:t>ROADMAP Y ACTUALIZACIONES</a:t>
            </a:r>
            <a:endParaRPr kumimoji="0" lang="es-CL" sz="4000" i="0" u="none" strike="noStrike" cap="none" spc="0" normalizeH="0" baseline="0" dirty="0">
              <a:ln>
                <a:noFill/>
              </a:ln>
              <a:solidFill>
                <a:srgbClr val="C8A85E"/>
              </a:solidFill>
              <a:effectLst/>
              <a:highlight>
                <a:srgbClr val="FEFFFC"/>
              </a:highlight>
              <a:uFillTx/>
              <a:latin typeface="Poppins" panose="02000000000000000000" pitchFamily="2" charset="77"/>
              <a:cs typeface="Poppins" panose="02000000000000000000" pitchFamily="2" charset="77"/>
              <a:sym typeface="Helvetica Neue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34DCC79-A0EA-3832-7868-95BF60F61490}"/>
              </a:ext>
            </a:extLst>
          </p:cNvPr>
          <p:cNvSpPr txBox="1"/>
          <p:nvPr/>
        </p:nvSpPr>
        <p:spPr>
          <a:xfrm>
            <a:off x="659844" y="3334241"/>
            <a:ext cx="22562465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FASE 3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0F5FE20-A653-15E1-4EA9-2F79DE4838D3}"/>
              </a:ext>
            </a:extLst>
          </p:cNvPr>
          <p:cNvSpPr txBox="1"/>
          <p:nvPr/>
        </p:nvSpPr>
        <p:spPr>
          <a:xfrm>
            <a:off x="659843" y="3866984"/>
            <a:ext cx="22562465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QA, Visibilidad directiva y adopción</a:t>
            </a: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3CB14C64-B8FF-6AC1-D2A3-7354996DA360}"/>
              </a:ext>
            </a:extLst>
          </p:cNvPr>
          <p:cNvSpPr/>
          <p:nvPr/>
        </p:nvSpPr>
        <p:spPr>
          <a:xfrm>
            <a:off x="659843" y="5761067"/>
            <a:ext cx="4991613" cy="6366510"/>
          </a:xfrm>
          <a:prstGeom prst="roundRect">
            <a:avLst/>
          </a:prstGeom>
          <a:solidFill>
            <a:srgbClr val="E2211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MX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D64F5ACF-F753-CD2E-9A0B-A4B1F126CBAF}"/>
              </a:ext>
            </a:extLst>
          </p:cNvPr>
          <p:cNvSpPr txBox="1"/>
          <p:nvPr/>
        </p:nvSpPr>
        <p:spPr>
          <a:xfrm>
            <a:off x="828962" y="6689531"/>
            <a:ext cx="4822494" cy="30469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 err="1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Tunning</a:t>
            </a: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 final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s-MX" sz="3200" b="0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Stress test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s-MX" sz="3200" b="0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Optimizaciones pertinentes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C1755093-F2BF-83BE-C7E0-31D670326C90}"/>
              </a:ext>
            </a:extLst>
          </p:cNvPr>
          <p:cNvSpPr txBox="1"/>
          <p:nvPr/>
        </p:nvSpPr>
        <p:spPr>
          <a:xfrm>
            <a:off x="815140" y="6051652"/>
            <a:ext cx="4781712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SEMANA 9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F6D03234-1148-BAE2-A01D-81052329ECB2}"/>
              </a:ext>
            </a:extLst>
          </p:cNvPr>
          <p:cNvSpPr/>
          <p:nvPr/>
        </p:nvSpPr>
        <p:spPr>
          <a:xfrm>
            <a:off x="8335853" y="4857649"/>
            <a:ext cx="862640" cy="796468"/>
          </a:xfrm>
          <a:prstGeom prst="ellipse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556F3EEE-E2C1-8C52-3E95-77BC9432A04E}"/>
              </a:ext>
            </a:extLst>
          </p:cNvPr>
          <p:cNvSpPr/>
          <p:nvPr/>
        </p:nvSpPr>
        <p:spPr>
          <a:xfrm>
            <a:off x="6271367" y="5816493"/>
            <a:ext cx="4991613" cy="6366510"/>
          </a:xfrm>
          <a:prstGeom prst="roundRect">
            <a:avLst/>
          </a:prstGeom>
          <a:solidFill>
            <a:srgbClr val="E2211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MX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15D1A138-F9FE-4F1A-74EA-BA1A8C3BB307}"/>
              </a:ext>
            </a:extLst>
          </p:cNvPr>
          <p:cNvSpPr txBox="1"/>
          <p:nvPr/>
        </p:nvSpPr>
        <p:spPr>
          <a:xfrm>
            <a:off x="6415790" y="6110409"/>
            <a:ext cx="484719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SEMANA 10 - 11</a:t>
            </a: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87BA1EC5-E8BD-B122-DE5C-9C392383054F}"/>
              </a:ext>
            </a:extLst>
          </p:cNvPr>
          <p:cNvSpPr/>
          <p:nvPr/>
        </p:nvSpPr>
        <p:spPr>
          <a:xfrm>
            <a:off x="19804838" y="4793644"/>
            <a:ext cx="862640" cy="796468"/>
          </a:xfrm>
          <a:prstGeom prst="ellipse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932B32C8-C32B-1888-E36E-0DC9C345F651}"/>
              </a:ext>
            </a:extLst>
          </p:cNvPr>
          <p:cNvSpPr/>
          <p:nvPr/>
        </p:nvSpPr>
        <p:spPr>
          <a:xfrm>
            <a:off x="13947378" y="4839884"/>
            <a:ext cx="862640" cy="796468"/>
          </a:xfrm>
          <a:prstGeom prst="ellipse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6FBA3A9F-50E4-63A7-AE00-82FF658BE2F8}"/>
              </a:ext>
            </a:extLst>
          </p:cNvPr>
          <p:cNvCxnSpPr>
            <a:cxnSpLocks/>
          </p:cNvCxnSpPr>
          <p:nvPr/>
        </p:nvCxnSpPr>
        <p:spPr>
          <a:xfrm flipV="1">
            <a:off x="3007465" y="5255883"/>
            <a:ext cx="20725410" cy="26043"/>
          </a:xfrm>
          <a:prstGeom prst="straightConnector1">
            <a:avLst/>
          </a:prstGeom>
          <a:noFill/>
          <a:ln w="254000" cap="flat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oval" w="med" len="med"/>
            <a:tailEnd type="triangl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ECC54D1C-4728-474E-A3C6-CFEDC270995C}"/>
              </a:ext>
            </a:extLst>
          </p:cNvPr>
          <p:cNvSpPr txBox="1"/>
          <p:nvPr/>
        </p:nvSpPr>
        <p:spPr>
          <a:xfrm>
            <a:off x="6440486" y="6733230"/>
            <a:ext cx="4822494" cy="5016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u="sng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Automatización cero toque</a:t>
            </a:r>
          </a:p>
          <a:p>
            <a:pPr lvl="1" indent="0"/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Bajo nuestro principio arquitectónico, si un cliente logra traspasar todas las barreras de seguridad, </a:t>
            </a:r>
            <a:r>
              <a:rPr lang="es-MX" sz="3200" b="0" dirty="0" err="1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dataverse</a:t>
            </a: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 empujará la información nativamente a SOM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3757B13-7CC2-415D-2ADB-2A97F6A322F2}"/>
              </a:ext>
            </a:extLst>
          </p:cNvPr>
          <p:cNvSpPr/>
          <p:nvPr/>
        </p:nvSpPr>
        <p:spPr>
          <a:xfrm>
            <a:off x="11882891" y="5781021"/>
            <a:ext cx="4991613" cy="6366510"/>
          </a:xfrm>
          <a:prstGeom prst="roundRect">
            <a:avLst/>
          </a:prstGeom>
          <a:solidFill>
            <a:srgbClr val="E2211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MX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F46806B-C988-1A7D-5D84-03B41E267DEC}"/>
              </a:ext>
            </a:extLst>
          </p:cNvPr>
          <p:cNvSpPr txBox="1"/>
          <p:nvPr/>
        </p:nvSpPr>
        <p:spPr>
          <a:xfrm>
            <a:off x="11987841" y="6018653"/>
            <a:ext cx="4781712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SEMANA 12 - 13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308A06E-CE28-E610-AF08-F728C05047BE}"/>
              </a:ext>
            </a:extLst>
          </p:cNvPr>
          <p:cNvSpPr txBox="1"/>
          <p:nvPr/>
        </p:nvSpPr>
        <p:spPr>
          <a:xfrm>
            <a:off x="12052010" y="6729608"/>
            <a:ext cx="4822494" cy="25545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Despliegue controlado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s-MX" sz="3200" b="0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Clínicas de entrenamiento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863104C5-ACCE-BACA-6E7A-C69993ECB9D1}"/>
              </a:ext>
            </a:extLst>
          </p:cNvPr>
          <p:cNvSpPr/>
          <p:nvPr/>
        </p:nvSpPr>
        <p:spPr>
          <a:xfrm>
            <a:off x="17740352" y="5717482"/>
            <a:ext cx="4991613" cy="6366510"/>
          </a:xfrm>
          <a:prstGeom prst="roundRect">
            <a:avLst/>
          </a:prstGeom>
          <a:solidFill>
            <a:srgbClr val="E2211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MX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7599A90-FB6D-36E3-21D7-691F6BACD52F}"/>
              </a:ext>
            </a:extLst>
          </p:cNvPr>
          <p:cNvSpPr txBox="1"/>
          <p:nvPr/>
        </p:nvSpPr>
        <p:spPr>
          <a:xfrm>
            <a:off x="17890851" y="6616404"/>
            <a:ext cx="4822494" cy="30469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u="sng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Soporte intensivo     In-Situ</a:t>
            </a:r>
          </a:p>
          <a:p>
            <a:pPr lvl="1" indent="0"/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Monitorizar errores, </a:t>
            </a:r>
            <a:r>
              <a:rPr lang="es-MX" sz="3200" b="0" dirty="0" err="1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prompts</a:t>
            </a: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 de IA y estabilidad de los usuarios.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30DE354-990D-F987-C4C5-930263C9BEE1}"/>
              </a:ext>
            </a:extLst>
          </p:cNvPr>
          <p:cNvSpPr txBox="1"/>
          <p:nvPr/>
        </p:nvSpPr>
        <p:spPr>
          <a:xfrm>
            <a:off x="17845302" y="5983854"/>
            <a:ext cx="4781712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SEMANA 14</a:t>
            </a:r>
          </a:p>
        </p:txBody>
      </p:sp>
    </p:spTree>
    <p:extLst>
      <p:ext uri="{BB962C8B-B14F-4D97-AF65-F5344CB8AC3E}">
        <p14:creationId xmlns:p14="http://schemas.microsoft.com/office/powerpoint/2010/main" val="197811425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F7FE7-3704-E247-0F70-385038A05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C3152F8-355C-242F-4FE2-136F7EC70F7E}"/>
              </a:ext>
            </a:extLst>
          </p:cNvPr>
          <p:cNvSpPr txBox="1"/>
          <p:nvPr/>
        </p:nvSpPr>
        <p:spPr>
          <a:xfrm>
            <a:off x="982882" y="773722"/>
            <a:ext cx="18305782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MX" sz="6000" b="1" i="0" u="none" strike="noStrike" cap="none" spc="0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FillTx/>
                <a:latin typeface="Poppins" panose="02000000000000000000" pitchFamily="2" charset="77"/>
                <a:cs typeface="Poppins" panose="02000000000000000000" pitchFamily="2" charset="77"/>
                <a:sym typeface="Helvetica Neue"/>
              </a:rPr>
              <a:t>IDEAS FUTURAS</a:t>
            </a:r>
            <a:endParaRPr kumimoji="0" lang="es-CL" sz="60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Poppins" panose="02000000000000000000" pitchFamily="2" charset="77"/>
              <a:cs typeface="Poppins" panose="02000000000000000000" pitchFamily="2" charset="77"/>
              <a:sym typeface="Helvetica Neue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D285E11-AB67-1F3D-E067-60575387CEAF}"/>
              </a:ext>
            </a:extLst>
          </p:cNvPr>
          <p:cNvSpPr/>
          <p:nvPr/>
        </p:nvSpPr>
        <p:spPr>
          <a:xfrm>
            <a:off x="659843" y="3144420"/>
            <a:ext cx="22562465" cy="2179320"/>
          </a:xfrm>
          <a:prstGeom prst="roundRect">
            <a:avLst/>
          </a:prstGeom>
          <a:solidFill>
            <a:srgbClr val="113595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342F3A4-132E-7F72-F09A-09B0B7F79084}"/>
              </a:ext>
            </a:extLst>
          </p:cNvPr>
          <p:cNvSpPr txBox="1"/>
          <p:nvPr/>
        </p:nvSpPr>
        <p:spPr>
          <a:xfrm>
            <a:off x="982882" y="1837074"/>
            <a:ext cx="8678703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MX" sz="4000" i="0" u="none" strike="noStrike" cap="none" spc="0" normalizeH="0" baseline="0" dirty="0">
                <a:ln>
                  <a:noFill/>
                </a:ln>
                <a:solidFill>
                  <a:srgbClr val="C8A85E"/>
                </a:solidFill>
                <a:effectLst/>
                <a:highlight>
                  <a:srgbClr val="FEFFFC"/>
                </a:highlight>
                <a:uFillTx/>
                <a:latin typeface="Poppins" panose="02000000000000000000" pitchFamily="2" charset="77"/>
                <a:cs typeface="Poppins" panose="02000000000000000000" pitchFamily="2" charset="77"/>
                <a:sym typeface="Helvetica Neue"/>
              </a:rPr>
              <a:t>Implementaciones extras</a:t>
            </a:r>
            <a:endParaRPr kumimoji="0" lang="es-CL" sz="4000" i="0" u="none" strike="noStrike" cap="none" spc="0" normalizeH="0" baseline="0" dirty="0">
              <a:ln>
                <a:noFill/>
              </a:ln>
              <a:solidFill>
                <a:srgbClr val="C8A85E"/>
              </a:solidFill>
              <a:effectLst/>
              <a:highlight>
                <a:srgbClr val="FEFFFC"/>
              </a:highlight>
              <a:uFillTx/>
              <a:latin typeface="Poppins" panose="02000000000000000000" pitchFamily="2" charset="77"/>
              <a:cs typeface="Poppins" panose="02000000000000000000" pitchFamily="2" charset="77"/>
              <a:sym typeface="Helvetica Neue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8AFB010-FC94-DE2D-1462-7E2170AF968A}"/>
              </a:ext>
            </a:extLst>
          </p:cNvPr>
          <p:cNvSpPr txBox="1"/>
          <p:nvPr/>
        </p:nvSpPr>
        <p:spPr>
          <a:xfrm>
            <a:off x="601658" y="3620532"/>
            <a:ext cx="22562465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7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Mejoras propuestas</a:t>
            </a: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08966BBD-DA1E-7293-D370-F75827AA6D7C}"/>
              </a:ext>
            </a:extLst>
          </p:cNvPr>
          <p:cNvSpPr/>
          <p:nvPr/>
        </p:nvSpPr>
        <p:spPr>
          <a:xfrm>
            <a:off x="3916185" y="5739739"/>
            <a:ext cx="4991613" cy="6366510"/>
          </a:xfrm>
          <a:prstGeom prst="roundRect">
            <a:avLst/>
          </a:prstGeom>
          <a:solidFill>
            <a:srgbClr val="E2211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MX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9D60C4A5-65A8-43A4-EDC9-F0A702563AB7}"/>
              </a:ext>
            </a:extLst>
          </p:cNvPr>
          <p:cNvSpPr/>
          <p:nvPr/>
        </p:nvSpPr>
        <p:spPr>
          <a:xfrm>
            <a:off x="18304964" y="4735272"/>
            <a:ext cx="862640" cy="796468"/>
          </a:xfrm>
          <a:prstGeom prst="ellipse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DD2D6FBD-7EA0-F65F-E0F6-868A1D7BD6B6}"/>
              </a:ext>
            </a:extLst>
          </p:cNvPr>
          <p:cNvSpPr/>
          <p:nvPr/>
        </p:nvSpPr>
        <p:spPr>
          <a:xfrm>
            <a:off x="12225928" y="4840580"/>
            <a:ext cx="862640" cy="796468"/>
          </a:xfrm>
          <a:prstGeom prst="ellipse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B3215242-A9EA-B3A6-7641-FCE2676BB976}"/>
              </a:ext>
            </a:extLst>
          </p:cNvPr>
          <p:cNvCxnSpPr>
            <a:cxnSpLocks/>
          </p:cNvCxnSpPr>
          <p:nvPr/>
        </p:nvCxnSpPr>
        <p:spPr>
          <a:xfrm>
            <a:off x="6206404" y="5191878"/>
            <a:ext cx="16029482" cy="3168"/>
          </a:xfrm>
          <a:prstGeom prst="straightConnector1">
            <a:avLst/>
          </a:prstGeom>
          <a:noFill/>
          <a:ln w="254000" cap="flat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oval" w="med" len="med"/>
            <a:tailEnd type="triangl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B34A089E-1D4D-8723-1091-DB536BD7CEDF}"/>
              </a:ext>
            </a:extLst>
          </p:cNvPr>
          <p:cNvSpPr txBox="1"/>
          <p:nvPr/>
        </p:nvSpPr>
        <p:spPr>
          <a:xfrm>
            <a:off x="4044109" y="6200375"/>
            <a:ext cx="4822494" cy="55092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u="sng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Gestión inteligente:</a:t>
            </a:r>
            <a:br>
              <a:rPr lang="es-MX" sz="3200" u="sng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</a:br>
            <a:r>
              <a:rPr lang="es-MX" sz="3200" u="sng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Material POP</a:t>
            </a:r>
          </a:p>
          <a:p>
            <a:pPr lvl="1" indent="0"/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Un flujo automático basado en el análisis de la IA para recomendar material POP.</a:t>
            </a:r>
            <a:b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</a:b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Ejemplo: Si el giro es </a:t>
            </a:r>
            <a:r>
              <a:rPr lang="es-MX" sz="3200" b="0" dirty="0" err="1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Botillerias</a:t>
            </a: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, despachar afiches de snack y confites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8F08438-6C6E-BDD3-7490-AF0094C23D29}"/>
              </a:ext>
            </a:extLst>
          </p:cNvPr>
          <p:cNvSpPr/>
          <p:nvPr/>
        </p:nvSpPr>
        <p:spPr>
          <a:xfrm>
            <a:off x="10161442" y="5697925"/>
            <a:ext cx="4991613" cy="6366510"/>
          </a:xfrm>
          <a:prstGeom prst="roundRect">
            <a:avLst/>
          </a:prstGeom>
          <a:solidFill>
            <a:srgbClr val="E2211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MX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5C33F62B-6928-FC40-C08C-B42C0639769D}"/>
              </a:ext>
            </a:extLst>
          </p:cNvPr>
          <p:cNvSpPr/>
          <p:nvPr/>
        </p:nvSpPr>
        <p:spPr>
          <a:xfrm>
            <a:off x="16342530" y="5739739"/>
            <a:ext cx="4991613" cy="6366510"/>
          </a:xfrm>
          <a:prstGeom prst="roundRect">
            <a:avLst/>
          </a:prstGeom>
          <a:solidFill>
            <a:srgbClr val="E2211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MX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48A1556-6789-029D-AE0D-76F175CA02B5}"/>
              </a:ext>
            </a:extLst>
          </p:cNvPr>
          <p:cNvSpPr txBox="1"/>
          <p:nvPr/>
        </p:nvSpPr>
        <p:spPr>
          <a:xfrm>
            <a:off x="10246001" y="6211770"/>
            <a:ext cx="4822494" cy="5016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u="sng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Surtido recomendado y Cross-</a:t>
            </a:r>
            <a:r>
              <a:rPr lang="es-MX" sz="3200" u="sng" dirty="0" err="1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Selling</a:t>
            </a:r>
            <a:endParaRPr lang="es-MX" sz="3200" u="sng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lvl="1" indent="0"/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Al tener Lead </a:t>
            </a:r>
            <a:r>
              <a:rPr lang="es-MX" sz="3200" b="0" dirty="0" err="1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Scoring</a:t>
            </a: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 de Quintil, el módulo de ventas sugerirá a futuro las conservadoras más grandes y descuentos de entrada más agresivos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AD4F3CF-D06D-75D0-56C8-F3A582D51294}"/>
              </a:ext>
            </a:extLst>
          </p:cNvPr>
          <p:cNvSpPr txBox="1"/>
          <p:nvPr/>
        </p:nvSpPr>
        <p:spPr>
          <a:xfrm>
            <a:off x="16427089" y="6283298"/>
            <a:ext cx="4822494" cy="55092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u="sng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Planograma y </a:t>
            </a:r>
            <a:r>
              <a:rPr lang="es-MX" sz="3200" u="sng" dirty="0" err="1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Layout</a:t>
            </a:r>
            <a:r>
              <a:rPr lang="es-MX" sz="3200" u="sng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 inteligente</a:t>
            </a:r>
          </a:p>
          <a:p>
            <a:pPr lvl="1" indent="0"/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Si la IA detecta que el local colinda, por ejemplo, con un colegio o centro de salud, desplegar una vista </a:t>
            </a:r>
            <a:r>
              <a:rPr lang="es-MX" sz="3200" b="0" dirty="0" err="1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layout</a:t>
            </a: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 en la app recomendando priorizar productos sin sellos en la máquina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35062AAD-859E-3000-8D69-CBD20EA8291F}"/>
              </a:ext>
            </a:extLst>
          </p:cNvPr>
          <p:cNvCxnSpPr>
            <a:cxnSpLocks/>
          </p:cNvCxnSpPr>
          <p:nvPr/>
        </p:nvCxnSpPr>
        <p:spPr>
          <a:xfrm flipH="1">
            <a:off x="3260035" y="5191878"/>
            <a:ext cx="2947461" cy="0"/>
          </a:xfrm>
          <a:prstGeom prst="line">
            <a:avLst/>
          </a:prstGeom>
          <a:noFill/>
          <a:ln w="2540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96955145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8127EFA-7CE1-E835-3830-8EEA703AFCE7}"/>
              </a:ext>
            </a:extLst>
          </p:cNvPr>
          <p:cNvSpPr/>
          <p:nvPr/>
        </p:nvSpPr>
        <p:spPr>
          <a:xfrm>
            <a:off x="8414670" y="2592649"/>
            <a:ext cx="7664967" cy="1759476"/>
          </a:xfrm>
          <a:prstGeom prst="roundRect">
            <a:avLst/>
          </a:prstGeom>
          <a:solidFill>
            <a:srgbClr val="072D9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523E050-BC46-DC10-BC00-E675B0782174}"/>
              </a:ext>
            </a:extLst>
          </p:cNvPr>
          <p:cNvSpPr txBox="1"/>
          <p:nvPr/>
        </p:nvSpPr>
        <p:spPr>
          <a:xfrm>
            <a:off x="834094" y="582572"/>
            <a:ext cx="1533138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s-MX" sz="6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ROI</a:t>
            </a:r>
            <a:endParaRPr lang="es-CL" sz="2400" dirty="0">
              <a:solidFill>
                <a:schemeClr val="tx1">
                  <a:lumMod val="65000"/>
                  <a:lumOff val="35000"/>
                </a:schemeClr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7479E6B0-61B1-A4F3-695C-27A9CD92C8EC}"/>
              </a:ext>
            </a:extLst>
          </p:cNvPr>
          <p:cNvSpPr/>
          <p:nvPr/>
        </p:nvSpPr>
        <p:spPr>
          <a:xfrm>
            <a:off x="17895809" y="449903"/>
            <a:ext cx="6327020" cy="1759476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1339D91D-D488-AB62-CAF4-A1700F763A52}"/>
              </a:ext>
            </a:extLst>
          </p:cNvPr>
          <p:cNvSpPr/>
          <p:nvPr/>
        </p:nvSpPr>
        <p:spPr>
          <a:xfrm>
            <a:off x="437042" y="2595151"/>
            <a:ext cx="7664967" cy="1759476"/>
          </a:xfrm>
          <a:prstGeom prst="roundRect">
            <a:avLst/>
          </a:prstGeom>
          <a:solidFill>
            <a:srgbClr val="E2211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D2ABEEB-C4DB-04A5-CD01-60FCC74068C5}"/>
              </a:ext>
            </a:extLst>
          </p:cNvPr>
          <p:cNvSpPr txBox="1"/>
          <p:nvPr/>
        </p:nvSpPr>
        <p:spPr>
          <a:xfrm>
            <a:off x="18208221" y="955151"/>
            <a:ext cx="5754179" cy="14260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s-CL" sz="28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[ ($81.913 / $10.560) * 100 ] = 776% ROI</a:t>
            </a:r>
            <a:endParaRPr lang="es-MX" sz="2800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0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B1486FA-CA1E-41DE-E5AE-501C8AF6AA67}"/>
              </a:ext>
            </a:extLst>
          </p:cNvPr>
          <p:cNvSpPr txBox="1"/>
          <p:nvPr/>
        </p:nvSpPr>
        <p:spPr>
          <a:xfrm>
            <a:off x="1911905" y="3071114"/>
            <a:ext cx="4771617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s-MX" sz="44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Ahorro $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40F752D-CA1A-03B2-CDF0-BC4399AC09EE}"/>
              </a:ext>
            </a:extLst>
          </p:cNvPr>
          <p:cNvSpPr txBox="1"/>
          <p:nvPr/>
        </p:nvSpPr>
        <p:spPr>
          <a:xfrm>
            <a:off x="834092" y="1645924"/>
            <a:ext cx="17374129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MX" sz="4000" dirty="0">
                <a:solidFill>
                  <a:srgbClr val="C8A85E"/>
                </a:solidFill>
                <a:highlight>
                  <a:srgbClr val="FEFFFC"/>
                </a:highlight>
                <a:latin typeface="Poppins" panose="02000000000000000000" pitchFamily="2" charset="77"/>
                <a:cs typeface="Poppins" panose="02000000000000000000" pitchFamily="2" charset="77"/>
              </a:rPr>
              <a:t>Supuesto: 81 vendedores / </a:t>
            </a:r>
            <a:r>
              <a:rPr lang="es-MX" sz="4000" dirty="0" err="1">
                <a:solidFill>
                  <a:srgbClr val="C8A85E"/>
                </a:solidFill>
                <a:highlight>
                  <a:srgbClr val="FEFFFC"/>
                </a:highlight>
                <a:latin typeface="Poppins" panose="02000000000000000000" pitchFamily="2" charset="77"/>
                <a:cs typeface="Poppins" panose="02000000000000000000" pitchFamily="2" charset="77"/>
              </a:rPr>
              <a:t>backoffice</a:t>
            </a:r>
            <a:r>
              <a:rPr lang="es-MX" sz="4000" dirty="0">
                <a:solidFill>
                  <a:srgbClr val="C8A85E"/>
                </a:solidFill>
                <a:highlight>
                  <a:srgbClr val="FEFFFC"/>
                </a:highlight>
                <a:latin typeface="Poppins" panose="02000000000000000000" pitchFamily="2" charset="77"/>
                <a:cs typeface="Poppins" panose="02000000000000000000" pitchFamily="2" charset="77"/>
              </a:rPr>
              <a:t> 60min / soporte actual</a:t>
            </a:r>
            <a:endParaRPr kumimoji="0" lang="es-CL" sz="4000" i="0" u="none" strike="noStrike" cap="none" spc="0" normalizeH="0" baseline="0" dirty="0">
              <a:ln>
                <a:noFill/>
              </a:ln>
              <a:solidFill>
                <a:srgbClr val="C8A85E"/>
              </a:solidFill>
              <a:effectLst/>
              <a:highlight>
                <a:srgbClr val="FEFFFC"/>
              </a:highlight>
              <a:uFillTx/>
              <a:latin typeface="Poppins" panose="02000000000000000000" pitchFamily="2" charset="77"/>
              <a:cs typeface="Poppins" panose="02000000000000000000" pitchFamily="2" charset="77"/>
              <a:sym typeface="Helvetica Neue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15EE620-B105-0084-5296-4F69CAC8C87A}"/>
              </a:ext>
            </a:extLst>
          </p:cNvPr>
          <p:cNvSpPr/>
          <p:nvPr/>
        </p:nvSpPr>
        <p:spPr>
          <a:xfrm>
            <a:off x="16392300" y="2595151"/>
            <a:ext cx="7664967" cy="1759476"/>
          </a:xfrm>
          <a:prstGeom prst="roundRect">
            <a:avLst/>
          </a:prstGeom>
          <a:solidFill>
            <a:srgbClr val="E2211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AE350F1-1AB1-FB1A-2C51-6346FC9F3384}"/>
              </a:ext>
            </a:extLst>
          </p:cNvPr>
          <p:cNvSpPr txBox="1"/>
          <p:nvPr/>
        </p:nvSpPr>
        <p:spPr>
          <a:xfrm>
            <a:off x="9861344" y="3082536"/>
            <a:ext cx="4771617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s-MX" sz="44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Ahorro HRS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29A61F9-8D0D-81FD-4A63-69E639ABEBE7}"/>
              </a:ext>
            </a:extLst>
          </p:cNvPr>
          <p:cNvSpPr txBox="1"/>
          <p:nvPr/>
        </p:nvSpPr>
        <p:spPr>
          <a:xfrm>
            <a:off x="17846010" y="2789934"/>
            <a:ext cx="4771617" cy="14568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s-MX" sz="44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Independencia tecnológica</a:t>
            </a: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705B015A-6B5E-1846-7D94-184ED289970A}"/>
              </a:ext>
            </a:extLst>
          </p:cNvPr>
          <p:cNvCxnSpPr/>
          <p:nvPr/>
        </p:nvCxnSpPr>
        <p:spPr>
          <a:xfrm>
            <a:off x="1169581" y="8314659"/>
            <a:ext cx="22712374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F31DC4A9-3BC7-C297-9DC5-06E984461CDE}"/>
              </a:ext>
            </a:extLst>
          </p:cNvPr>
          <p:cNvCxnSpPr>
            <a:cxnSpLocks/>
          </p:cNvCxnSpPr>
          <p:nvPr/>
        </p:nvCxnSpPr>
        <p:spPr>
          <a:xfrm>
            <a:off x="8265815" y="4967963"/>
            <a:ext cx="0" cy="7661555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68E99B7A-E84B-1FF3-1B4D-ECCD3D7C2FF2}"/>
              </a:ext>
            </a:extLst>
          </p:cNvPr>
          <p:cNvCxnSpPr>
            <a:cxnSpLocks/>
          </p:cNvCxnSpPr>
          <p:nvPr/>
        </p:nvCxnSpPr>
        <p:spPr>
          <a:xfrm>
            <a:off x="16298096" y="4967962"/>
            <a:ext cx="0" cy="7661555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A0D07B3-408B-65B3-6042-8AC63DF94886}"/>
              </a:ext>
            </a:extLst>
          </p:cNvPr>
          <p:cNvSpPr txBox="1"/>
          <p:nvPr/>
        </p:nvSpPr>
        <p:spPr>
          <a:xfrm>
            <a:off x="607167" y="4625483"/>
            <a:ext cx="7494842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s-MX" sz="4400" dirty="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Mercado Externo – 1 año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A919E95-108D-0020-FBDB-1C276515B2B6}"/>
              </a:ext>
            </a:extLst>
          </p:cNvPr>
          <p:cNvSpPr txBox="1"/>
          <p:nvPr/>
        </p:nvSpPr>
        <p:spPr>
          <a:xfrm>
            <a:off x="681957" y="5685241"/>
            <a:ext cx="7119123" cy="1569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Implementación: $13.213 USD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s-MX" sz="3200" b="0" dirty="0">
              <a:solidFill>
                <a:schemeClr val="tx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Licencias : $77.760 USD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A71A157-80ED-B568-1948-CF9E9C7E26F8}"/>
              </a:ext>
            </a:extLst>
          </p:cNvPr>
          <p:cNvSpPr txBox="1"/>
          <p:nvPr/>
        </p:nvSpPr>
        <p:spPr>
          <a:xfrm>
            <a:off x="336664" y="8645463"/>
            <a:ext cx="7922097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s-MX" sz="4400" dirty="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Desarrollo In House – 1 año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EF72E9B9-B54D-90DB-1463-6178249F4B7D}"/>
              </a:ext>
            </a:extLst>
          </p:cNvPr>
          <p:cNvSpPr txBox="1"/>
          <p:nvPr/>
        </p:nvSpPr>
        <p:spPr>
          <a:xfrm>
            <a:off x="709963" y="9425164"/>
            <a:ext cx="7119123" cy="25545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Implementación: $0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s-MX" sz="3200" b="0" dirty="0">
              <a:solidFill>
                <a:schemeClr val="tx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Licencias Per App: $9.720 USD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s-MX" sz="3200" b="0" dirty="0">
              <a:solidFill>
                <a:schemeClr val="tx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Consumo </a:t>
            </a:r>
            <a:r>
              <a:rPr lang="es-MX" sz="3200" b="0" dirty="0" err="1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APIs</a:t>
            </a:r>
            <a:r>
              <a:rPr lang="es-MX" sz="3200" b="0" dirty="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 IA: ~$600 USD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1F9D2F6B-B3E7-5703-197E-C2FE72AD4C52}"/>
              </a:ext>
            </a:extLst>
          </p:cNvPr>
          <p:cNvSpPr txBox="1"/>
          <p:nvPr/>
        </p:nvSpPr>
        <p:spPr>
          <a:xfrm>
            <a:off x="3170358" y="7682092"/>
            <a:ext cx="5543880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s-MX" sz="3600" dirty="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Total: </a:t>
            </a:r>
            <a:r>
              <a:rPr lang="es-MX" sz="3600" dirty="0">
                <a:solidFill>
                  <a:srgbClr val="FF0000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$90.973</a:t>
            </a:r>
            <a:r>
              <a:rPr lang="es-MX" sz="3600" dirty="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 USD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0FE9673B-9521-7A98-6534-CC0E619D6C32}"/>
              </a:ext>
            </a:extLst>
          </p:cNvPr>
          <p:cNvSpPr txBox="1"/>
          <p:nvPr/>
        </p:nvSpPr>
        <p:spPr>
          <a:xfrm>
            <a:off x="3170358" y="12112343"/>
            <a:ext cx="5543880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s-MX" sz="3600" dirty="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Total: </a:t>
            </a:r>
            <a:r>
              <a:rPr lang="es-MX" sz="3600" dirty="0">
                <a:solidFill>
                  <a:schemeClr val="accent3">
                    <a:lumMod val="75000"/>
                  </a:schemeClr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$10.320</a:t>
            </a:r>
            <a:r>
              <a:rPr lang="es-MX" sz="3600" dirty="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 USD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530A9CE2-D459-35E9-BCC2-07C8D9CD7782}"/>
              </a:ext>
            </a:extLst>
          </p:cNvPr>
          <p:cNvSpPr txBox="1"/>
          <p:nvPr/>
        </p:nvSpPr>
        <p:spPr>
          <a:xfrm>
            <a:off x="8373364" y="4632182"/>
            <a:ext cx="7817184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s-MX" sz="4400" dirty="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Problema orgánico – 1 año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4FCAC0EB-9FE3-9D8A-5CD7-57D09C543CC2}"/>
              </a:ext>
            </a:extLst>
          </p:cNvPr>
          <p:cNvSpPr txBox="1"/>
          <p:nvPr/>
        </p:nvSpPr>
        <p:spPr>
          <a:xfrm>
            <a:off x="8687590" y="5691099"/>
            <a:ext cx="7119123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Costo horas/hombre: 240 HRS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0883B07F-D858-895E-D63E-6A03E452E47C}"/>
              </a:ext>
            </a:extLst>
          </p:cNvPr>
          <p:cNvSpPr txBox="1"/>
          <p:nvPr/>
        </p:nvSpPr>
        <p:spPr>
          <a:xfrm>
            <a:off x="11953705" y="7634047"/>
            <a:ext cx="4344391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s-MX" sz="3600" dirty="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Total: </a:t>
            </a:r>
            <a:r>
              <a:rPr lang="es-MX" sz="3600" dirty="0">
                <a:solidFill>
                  <a:srgbClr val="FF0000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$1.500</a:t>
            </a:r>
            <a:r>
              <a:rPr lang="es-MX" sz="3600" dirty="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 USD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44754D8F-4E72-DA9B-FD1D-91CBF2BC023C}"/>
              </a:ext>
            </a:extLst>
          </p:cNvPr>
          <p:cNvSpPr txBox="1"/>
          <p:nvPr/>
        </p:nvSpPr>
        <p:spPr>
          <a:xfrm>
            <a:off x="8400175" y="8613110"/>
            <a:ext cx="7817184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s-MX" sz="4400" dirty="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Solución vía IA – 1 año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FE7BF094-3F5B-AF33-625E-3C94729C37FB}"/>
              </a:ext>
            </a:extLst>
          </p:cNvPr>
          <p:cNvSpPr txBox="1"/>
          <p:nvPr/>
        </p:nvSpPr>
        <p:spPr>
          <a:xfrm>
            <a:off x="8539049" y="9592692"/>
            <a:ext cx="7119123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Costo horas/hombre: 41 HRS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A6622242-2C3B-5980-4970-B72489EF33A4}"/>
              </a:ext>
            </a:extLst>
          </p:cNvPr>
          <p:cNvSpPr txBox="1"/>
          <p:nvPr/>
        </p:nvSpPr>
        <p:spPr>
          <a:xfrm>
            <a:off x="8687589" y="6291256"/>
            <a:ext cx="7119123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Minutos por día: 58 min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C1DE700B-C9CE-5B58-11F4-0CD87C796432}"/>
              </a:ext>
            </a:extLst>
          </p:cNvPr>
          <p:cNvSpPr txBox="1"/>
          <p:nvPr/>
        </p:nvSpPr>
        <p:spPr>
          <a:xfrm>
            <a:off x="8539049" y="10183978"/>
            <a:ext cx="7119123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Minutos por día: 10 min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9465346F-71A8-1ED4-DC4E-003E401A46FE}"/>
              </a:ext>
            </a:extLst>
          </p:cNvPr>
          <p:cNvSpPr txBox="1"/>
          <p:nvPr/>
        </p:nvSpPr>
        <p:spPr>
          <a:xfrm>
            <a:off x="11773795" y="12112343"/>
            <a:ext cx="4344391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s-MX" sz="3600" dirty="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Total: </a:t>
            </a:r>
            <a:r>
              <a:rPr lang="es-MX" sz="3600" dirty="0">
                <a:solidFill>
                  <a:srgbClr val="00B050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$240</a:t>
            </a:r>
            <a:r>
              <a:rPr lang="es-MX" sz="3600" dirty="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 USD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6ED3A610-A077-84FD-C753-EE62AB037186}"/>
              </a:ext>
            </a:extLst>
          </p:cNvPr>
          <p:cNvSpPr txBox="1"/>
          <p:nvPr/>
        </p:nvSpPr>
        <p:spPr>
          <a:xfrm>
            <a:off x="16405645" y="4608933"/>
            <a:ext cx="7817184" cy="14568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s-MX" sz="4400" dirty="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Tiempos de respuesta externos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C0EEAEFE-491C-56B4-3C62-505E76D41537}"/>
              </a:ext>
            </a:extLst>
          </p:cNvPr>
          <p:cNvSpPr txBox="1"/>
          <p:nvPr/>
        </p:nvSpPr>
        <p:spPr>
          <a:xfrm>
            <a:off x="16665221" y="6168953"/>
            <a:ext cx="7119123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Esperas de desarrollo: &gt;8 meses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85D7848A-B8F2-A1FD-3C86-1624814EECAE}"/>
              </a:ext>
            </a:extLst>
          </p:cNvPr>
          <p:cNvSpPr txBox="1"/>
          <p:nvPr/>
        </p:nvSpPr>
        <p:spPr>
          <a:xfrm>
            <a:off x="16938144" y="9716361"/>
            <a:ext cx="7119123" cy="1569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Borrador: 2 - 3 semanas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s-MX" sz="3200" b="0" dirty="0">
              <a:solidFill>
                <a:schemeClr val="tx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sz="3200" b="0" dirty="0" err="1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Roadmap</a:t>
            </a:r>
            <a:r>
              <a:rPr lang="es-MX" sz="3200" b="0" dirty="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: ~3 meses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A34E0819-7D2C-12F5-61B1-2F24FF4B811D}"/>
              </a:ext>
            </a:extLst>
          </p:cNvPr>
          <p:cNvSpPr txBox="1"/>
          <p:nvPr/>
        </p:nvSpPr>
        <p:spPr>
          <a:xfrm>
            <a:off x="16298096" y="8658802"/>
            <a:ext cx="7817184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s-MX" sz="4400" dirty="0">
                <a:solidFill>
                  <a:schemeClr val="tx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Tiempos In House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74CA2BE9-A7ED-93E2-01D8-AEC12224FB05}"/>
              </a:ext>
            </a:extLst>
          </p:cNvPr>
          <p:cNvSpPr txBox="1"/>
          <p:nvPr/>
        </p:nvSpPr>
        <p:spPr>
          <a:xfrm>
            <a:off x="2753499" y="853456"/>
            <a:ext cx="14215689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s-E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((Beneficio Neto - Costo de Inversión) / Costo de Inversión) * 100</a:t>
            </a:r>
            <a:endParaRPr lang="es-MX" sz="2400" dirty="0">
              <a:solidFill>
                <a:schemeClr val="tx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029C630A-4968-2848-EF6B-0864DDE67996}"/>
              </a:ext>
            </a:extLst>
          </p:cNvPr>
          <p:cNvSpPr txBox="1"/>
          <p:nvPr/>
        </p:nvSpPr>
        <p:spPr>
          <a:xfrm>
            <a:off x="2331899" y="856795"/>
            <a:ext cx="767042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s-ES" sz="24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-&gt;</a:t>
            </a:r>
            <a:endParaRPr lang="es-MX" sz="2400" b="0" dirty="0">
              <a:solidFill>
                <a:schemeClr val="tx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5173928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33420-57AB-497E-96EB-B70BC1816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6ED0DBC6-94C0-24D5-C90A-6FE258458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6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22832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CE523-21E0-8D9C-D389-DAC521553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5E2218F-AD4E-9BEA-6B97-2B8009447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03921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07275-22BD-8BC6-A1F4-6B9948142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16C413B-342A-F4DB-2CE0-E4DE78D73C78}"/>
              </a:ext>
            </a:extLst>
          </p:cNvPr>
          <p:cNvSpPr txBox="1"/>
          <p:nvPr/>
        </p:nvSpPr>
        <p:spPr>
          <a:xfrm>
            <a:off x="982882" y="773722"/>
            <a:ext cx="18305782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MX" sz="6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VISIÓN AL MÁS ALLÁ</a:t>
            </a:r>
            <a:endParaRPr kumimoji="0" lang="es-CL" sz="60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Poppins" panose="02000000000000000000" pitchFamily="2" charset="77"/>
              <a:cs typeface="Poppins" panose="02000000000000000000" pitchFamily="2" charset="77"/>
              <a:sym typeface="Helvetica Neue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C3AF330-AFD3-560E-F694-9F8973E13651}"/>
              </a:ext>
            </a:extLst>
          </p:cNvPr>
          <p:cNvSpPr txBox="1"/>
          <p:nvPr/>
        </p:nvSpPr>
        <p:spPr>
          <a:xfrm>
            <a:off x="982882" y="1837074"/>
            <a:ext cx="8678703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MX" sz="4000" dirty="0">
                <a:solidFill>
                  <a:srgbClr val="C8A85E"/>
                </a:solidFill>
                <a:highlight>
                  <a:srgbClr val="FEFFFC"/>
                </a:highlight>
                <a:latin typeface="Poppins" panose="02000000000000000000" pitchFamily="2" charset="77"/>
                <a:cs typeface="Poppins" panose="02000000000000000000" pitchFamily="2" charset="77"/>
              </a:rPr>
              <a:t>Proyección de futuros proyectos</a:t>
            </a:r>
            <a:endParaRPr kumimoji="0" lang="es-CL" sz="4000" i="0" u="none" strike="noStrike" cap="none" spc="0" normalizeH="0" baseline="0" dirty="0">
              <a:ln>
                <a:noFill/>
              </a:ln>
              <a:solidFill>
                <a:srgbClr val="C8A85E"/>
              </a:solidFill>
              <a:effectLst/>
              <a:highlight>
                <a:srgbClr val="FEFFFC"/>
              </a:highlight>
              <a:uFillTx/>
              <a:latin typeface="Poppins" panose="02000000000000000000" pitchFamily="2" charset="77"/>
              <a:cs typeface="Poppins" panose="02000000000000000000" pitchFamily="2" charset="77"/>
              <a:sym typeface="Helvetica Neue"/>
            </a:endParaRP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6D294617-54D1-B493-029D-80432F437B3A}"/>
              </a:ext>
            </a:extLst>
          </p:cNvPr>
          <p:cNvSpPr/>
          <p:nvPr/>
        </p:nvSpPr>
        <p:spPr>
          <a:xfrm>
            <a:off x="1287743" y="3910939"/>
            <a:ext cx="4991613" cy="6366510"/>
          </a:xfrm>
          <a:prstGeom prst="roundRect">
            <a:avLst/>
          </a:prstGeom>
          <a:solidFill>
            <a:srgbClr val="E2211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L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MX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5FE7230-B009-4660-DF06-2A6B8B64CB0A}"/>
              </a:ext>
            </a:extLst>
          </p:cNvPr>
          <p:cNvSpPr txBox="1"/>
          <p:nvPr/>
        </p:nvSpPr>
        <p:spPr>
          <a:xfrm>
            <a:off x="1287743" y="4371575"/>
            <a:ext cx="4950418" cy="4031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u="sng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Gestor de rendiciones:</a:t>
            </a:r>
          </a:p>
          <a:p>
            <a:endParaRPr lang="es-MX" sz="3200" u="sng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lvl="1" indent="0"/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Un gestor de rendiciones automático </a:t>
            </a:r>
            <a:r>
              <a:rPr lang="es-MX" sz="3200" b="0" dirty="0" err="1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via</a:t>
            </a: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 PowerApps, conectado directamente con </a:t>
            </a:r>
            <a:r>
              <a:rPr lang="es-MX" sz="3200" b="0" dirty="0" err="1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SingRequest</a:t>
            </a: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.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D2246C8-EE7B-6E7C-F97F-564A3C43F5BB}"/>
              </a:ext>
            </a:extLst>
          </p:cNvPr>
          <p:cNvSpPr/>
          <p:nvPr/>
        </p:nvSpPr>
        <p:spPr>
          <a:xfrm>
            <a:off x="7043903" y="3910939"/>
            <a:ext cx="4991613" cy="6366510"/>
          </a:xfrm>
          <a:prstGeom prst="roundRect">
            <a:avLst/>
          </a:prstGeom>
          <a:solidFill>
            <a:srgbClr val="E2211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MX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F9B1FBB7-BFF8-5C0B-A1D1-0C9AF78A38F6}"/>
              </a:ext>
            </a:extLst>
          </p:cNvPr>
          <p:cNvSpPr/>
          <p:nvPr/>
        </p:nvSpPr>
        <p:spPr>
          <a:xfrm>
            <a:off x="12800063" y="3910939"/>
            <a:ext cx="4991613" cy="6366510"/>
          </a:xfrm>
          <a:prstGeom prst="roundRect">
            <a:avLst/>
          </a:prstGeom>
          <a:solidFill>
            <a:srgbClr val="E2211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MX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1DDD311-E78E-FC3F-B6F2-39B009950588}"/>
              </a:ext>
            </a:extLst>
          </p:cNvPr>
          <p:cNvSpPr txBox="1"/>
          <p:nvPr/>
        </p:nvSpPr>
        <p:spPr>
          <a:xfrm>
            <a:off x="12884622" y="4454498"/>
            <a:ext cx="4822494" cy="4031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u="sng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Gestión Rapel</a:t>
            </a:r>
          </a:p>
          <a:p>
            <a:endParaRPr lang="es-MX" sz="3200" u="sng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Extracción automática de la información y derivación instantánea al supervisor correspondiente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903B5F44-0E7D-2644-BDE8-8D6F8B8E7D74}"/>
              </a:ext>
            </a:extLst>
          </p:cNvPr>
          <p:cNvSpPr/>
          <p:nvPr/>
        </p:nvSpPr>
        <p:spPr>
          <a:xfrm>
            <a:off x="18556223" y="3910939"/>
            <a:ext cx="4991613" cy="6366510"/>
          </a:xfrm>
          <a:prstGeom prst="roundRect">
            <a:avLst/>
          </a:prstGeom>
          <a:solidFill>
            <a:srgbClr val="E2211C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CL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  <a:p>
            <a:endParaRPr lang="es-MX" sz="3200" b="0" dirty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08BB1A7-6BA6-2324-9F29-7435F75EA002}"/>
              </a:ext>
            </a:extLst>
          </p:cNvPr>
          <p:cNvSpPr txBox="1"/>
          <p:nvPr/>
        </p:nvSpPr>
        <p:spPr>
          <a:xfrm>
            <a:off x="18556223" y="4374843"/>
            <a:ext cx="4991613" cy="5016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u="sng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Cadena de autorización de descuentos</a:t>
            </a:r>
          </a:p>
          <a:p>
            <a:endParaRPr lang="es-MX" sz="3200" u="sng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lvl="1" indent="0"/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Sistema de descuentos en tiempo real y conectado por </a:t>
            </a:r>
            <a:r>
              <a:rPr lang="es-MX" sz="3200" b="0" dirty="0" err="1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wsp</a:t>
            </a: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, para evitar retrasos en la autorización de estos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8D98747-398C-BA96-1325-A687A912063B}"/>
              </a:ext>
            </a:extLst>
          </p:cNvPr>
          <p:cNvSpPr txBox="1"/>
          <p:nvPr/>
        </p:nvSpPr>
        <p:spPr>
          <a:xfrm>
            <a:off x="7128462" y="4371575"/>
            <a:ext cx="4822494" cy="54784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MX" sz="3200" u="sng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Bot de atención al cliente:</a:t>
            </a:r>
          </a:p>
          <a:p>
            <a:endParaRPr lang="es-MX" sz="3200" u="sng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lvl="1" indent="0"/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Creación de un </a:t>
            </a:r>
            <a:r>
              <a:rPr lang="es-MX" sz="3200" b="0" dirty="0" err="1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bot</a:t>
            </a: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 con </a:t>
            </a:r>
            <a:r>
              <a:rPr lang="es-MX" sz="3200" b="0" dirty="0" err="1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Chatbase</a:t>
            </a: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 conectado directamente a la página web y </a:t>
            </a:r>
            <a:r>
              <a:rPr lang="es-MX" sz="3200" b="0" dirty="0" err="1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via</a:t>
            </a: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 </a:t>
            </a:r>
            <a:r>
              <a:rPr lang="es-MX" sz="3200" b="0" dirty="0" err="1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wsp</a:t>
            </a:r>
            <a:endParaRPr lang="es-MX" sz="3200" b="0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lvl="1" indent="0"/>
            <a:endParaRPr lang="es-MX" sz="3200" b="0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  <a:p>
            <a:pPr lvl="1" indent="0"/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Costo </a:t>
            </a:r>
            <a:r>
              <a:rPr lang="es-MX" sz="3200" b="0" dirty="0" err="1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aprox</a:t>
            </a:r>
            <a:r>
              <a:rPr lang="es-MX" sz="3200" b="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: </a:t>
            </a:r>
            <a:r>
              <a:rPr lang="es-CL" sz="3200" dirty="0">
                <a:solidFill>
                  <a:schemeClr val="bg1"/>
                </a:solidFill>
                <a:latin typeface="Poppins" panose="02000000000000000000" pitchFamily="2" charset="77"/>
                <a:cs typeface="Poppins" panose="02000000000000000000" pitchFamily="2" charset="77"/>
              </a:rPr>
              <a:t>$45 - $155 USD</a:t>
            </a:r>
            <a:endParaRPr lang="es-MX" sz="3200" dirty="0">
              <a:solidFill>
                <a:schemeClr val="bg1"/>
              </a:solidFill>
              <a:latin typeface="Poppins" panose="02000000000000000000" pitchFamily="2" charset="77"/>
              <a:cs typeface="Poppins" panose="020000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115317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60831-0841-CFC4-992E-87AF03141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13F6BE61-4E52-C661-481C-619F0D5D5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0552" y="0"/>
            <a:ext cx="25731535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2478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A824F512783749A97DC601F0EABCBE" ma:contentTypeVersion="7" ma:contentTypeDescription="Create a new document." ma:contentTypeScope="" ma:versionID="4e08f9611a4c5860691518c7c7a64816">
  <xsd:schema xmlns:xsd="http://www.w3.org/2001/XMLSchema" xmlns:xs="http://www.w3.org/2001/XMLSchema" xmlns:p="http://schemas.microsoft.com/office/2006/metadata/properties" xmlns:ns3="b3fb4bc9-581d-4e2b-b595-0a5104a6178d" xmlns:ns4="b21b4f05-8c16-4e7b-9ee9-8abf503755f3" targetNamespace="http://schemas.microsoft.com/office/2006/metadata/properties" ma:root="true" ma:fieldsID="d2945e6e5aff5be8ac01ec8be5abc640" ns3:_="" ns4:_="">
    <xsd:import namespace="b3fb4bc9-581d-4e2b-b595-0a5104a6178d"/>
    <xsd:import namespace="b21b4f05-8c16-4e7b-9ee9-8abf503755f3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fb4bc9-581d-4e2b-b595-0a5104a6178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1b4f05-8c16-4e7b-9ee9-8abf503755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CA2C9D-B83D-4C1D-B4D9-CD84E792F0B4}">
  <ds:schemaRefs>
    <ds:schemaRef ds:uri="b21b4f05-8c16-4e7b-9ee9-8abf503755f3"/>
    <ds:schemaRef ds:uri="b3fb4bc9-581d-4e2b-b595-0a5104a6178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E073377-70F0-4ED1-81F5-FCE37C9703F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655ADE-D4EE-459C-9AFA-AB50FEB56E21}">
  <ds:schemaRefs>
    <ds:schemaRef ds:uri="b21b4f05-8c16-4e7b-9ee9-8abf503755f3"/>
    <ds:schemaRef ds:uri="b3fb4bc9-581d-4e2b-b595-0a5104a6178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22609</TotalTime>
  <Words>785</Words>
  <Application>Microsoft Office PowerPoint</Application>
  <PresentationFormat>Personalizado</PresentationFormat>
  <Paragraphs>384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Arial</vt:lpstr>
      <vt:lpstr>Helvetica Neue</vt:lpstr>
      <vt:lpstr>Helvetica Neue Light</vt:lpstr>
      <vt:lpstr>Helvetica Neue Medium</vt:lpstr>
      <vt:lpstr>Meutas Medium</vt:lpstr>
      <vt:lpstr>Poppins</vt:lpstr>
      <vt:lpstr>White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Claudio Guede Reyes</dc:creator>
  <cp:lastModifiedBy>Angel Villalobos</cp:lastModifiedBy>
  <cp:revision>52</cp:revision>
  <dcterms:modified xsi:type="dcterms:W3CDTF">2026-08-07T22:06:26Z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0x0101000EA824F512783749A97DC601F0EABCBE</vt:lpwstr>
  </property>
</Properties>
</file>